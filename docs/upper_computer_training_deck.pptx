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13ca6c5ed540d8" /><Relationship Type="http://schemas.openxmlformats.org/officeDocument/2006/relationships/extended-properties" Target="/docProps/app.xml" Id="Rb7c55bea5ee3441d" /><Relationship Type="http://schemas.openxmlformats.org/officeDocument/2006/relationships/officeDocument" Target="/ppt/presentation.xml" Id="Rb6f011c6224248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ca9bf772b844b3"/>
  </p:sldMasterIdLst>
  <p:notesMasterIdLst>
    <p:notesMasterId xmlns:r="http://schemas.openxmlformats.org/officeDocument/2006/relationships" r:id="R5fab1c4315164930"/>
  </p:notesMasterIdLst>
  <p:sldIdLst>
    <p:sldId xmlns:r="http://schemas.openxmlformats.org/officeDocument/2006/relationships" id="256" r:id="R87a3439eac194577"/>
    <p:sldId xmlns:r="http://schemas.openxmlformats.org/officeDocument/2006/relationships" id="257" r:id="Re1ea9de890ef4d6d"/>
    <p:sldId xmlns:r="http://schemas.openxmlformats.org/officeDocument/2006/relationships" id="258" r:id="R034a4c4de2d34161"/>
    <p:sldId xmlns:r="http://schemas.openxmlformats.org/officeDocument/2006/relationships" id="259" r:id="R9601e69e7f7142df"/>
    <p:sldId xmlns:r="http://schemas.openxmlformats.org/officeDocument/2006/relationships" id="260" r:id="Rece76261a93a44b1"/>
    <p:sldId xmlns:r="http://schemas.openxmlformats.org/officeDocument/2006/relationships" id="261" r:id="R01af70bf183d4ba5"/>
    <p:sldId xmlns:r="http://schemas.openxmlformats.org/officeDocument/2006/relationships" id="262" r:id="R86fc9c2f1d304e61"/>
    <p:sldId xmlns:r="http://schemas.openxmlformats.org/officeDocument/2006/relationships" id="263" r:id="R60c54875a0c74eaf"/>
    <p:sldId xmlns:r="http://schemas.openxmlformats.org/officeDocument/2006/relationships" id="264" r:id="Rc54eb166fa144567"/>
    <p:sldId xmlns:r="http://schemas.openxmlformats.org/officeDocument/2006/relationships" id="265" r:id="Rbb2c31abfecc411d"/>
    <p:sldId xmlns:r="http://schemas.openxmlformats.org/officeDocument/2006/relationships" id="266" r:id="R8495fa77a882462b"/>
    <p:sldId xmlns:r="http://schemas.openxmlformats.org/officeDocument/2006/relationships" id="267" r:id="R799c3fead9c340bb"/>
    <p:sldId xmlns:r="http://schemas.openxmlformats.org/officeDocument/2006/relationships" id="268" r:id="R12aba87394cb4a80"/>
    <p:sldId xmlns:r="http://schemas.openxmlformats.org/officeDocument/2006/relationships" id="269" r:id="R874ace8b3b0949de"/>
    <p:sldId xmlns:r="http://schemas.openxmlformats.org/officeDocument/2006/relationships" id="270" r:id="Ra2607c942d92449d"/>
    <p:sldId xmlns:r="http://schemas.openxmlformats.org/officeDocument/2006/relationships" id="271" r:id="R00b3bf04ff3b44a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a26e41d8a44f98" /><Relationship Type="http://schemas.openxmlformats.org/officeDocument/2006/relationships/slideMaster" Target="/ppt/slideMasters/slideMaster1.xml" Id="R33ca9bf772b844b3" /><Relationship Type="http://schemas.openxmlformats.org/officeDocument/2006/relationships/notesMaster" Target="/ppt/notesMasters/notesMaster1.xml" Id="R5fab1c4315164930" /><Relationship Type="http://schemas.openxmlformats.org/officeDocument/2006/relationships/presProps" Target="/ppt/presProps.xml" Id="Re358d8a6378941c2" /><Relationship Type="http://schemas.openxmlformats.org/officeDocument/2006/relationships/viewProps" Target="/ppt/viewProps.xml" Id="R6987535534b24fb6" /><Relationship Type="http://schemas.openxmlformats.org/officeDocument/2006/relationships/tableStyles" Target="/ppt/tableStyles.xml" Id="R7845969a342549ba" /><Relationship Type="http://schemas.openxmlformats.org/officeDocument/2006/relationships/slide" Target="/ppt/slides/slide1.xml" Id="R87a3439eac194577" /><Relationship Type="http://schemas.openxmlformats.org/officeDocument/2006/relationships/slide" Target="/ppt/slides/slide2.xml" Id="Re1ea9de890ef4d6d" /><Relationship Type="http://schemas.openxmlformats.org/officeDocument/2006/relationships/slide" Target="/ppt/slides/slide3.xml" Id="R034a4c4de2d34161" /><Relationship Type="http://schemas.openxmlformats.org/officeDocument/2006/relationships/slide" Target="/ppt/slides/slide4.xml" Id="R9601e69e7f7142df" /><Relationship Type="http://schemas.openxmlformats.org/officeDocument/2006/relationships/slide" Target="/ppt/slides/slide5.xml" Id="Rece76261a93a44b1" /><Relationship Type="http://schemas.openxmlformats.org/officeDocument/2006/relationships/slide" Target="/ppt/slides/slide6.xml" Id="R01af70bf183d4ba5" /><Relationship Type="http://schemas.openxmlformats.org/officeDocument/2006/relationships/slide" Target="/ppt/slides/slide7.xml" Id="R86fc9c2f1d304e61" /><Relationship Type="http://schemas.openxmlformats.org/officeDocument/2006/relationships/slide" Target="/ppt/slides/slide8.xml" Id="R60c54875a0c74eaf" /><Relationship Type="http://schemas.openxmlformats.org/officeDocument/2006/relationships/slide" Target="/ppt/slides/slide9.xml" Id="Rc54eb166fa144567" /><Relationship Type="http://schemas.openxmlformats.org/officeDocument/2006/relationships/slide" Target="/ppt/slides/slide10.xml" Id="Rbb2c31abfecc411d" /><Relationship Type="http://schemas.openxmlformats.org/officeDocument/2006/relationships/slide" Target="/ppt/slides/slide11.xml" Id="R8495fa77a882462b" /><Relationship Type="http://schemas.openxmlformats.org/officeDocument/2006/relationships/slide" Target="/ppt/slides/slide12.xml" Id="R799c3fead9c340bb" /><Relationship Type="http://schemas.openxmlformats.org/officeDocument/2006/relationships/slide" Target="/ppt/slides/slide13.xml" Id="R12aba87394cb4a80" /><Relationship Type="http://schemas.openxmlformats.org/officeDocument/2006/relationships/slide" Target="/ppt/slides/slide14.xml" Id="R874ace8b3b0949de" /><Relationship Type="http://schemas.openxmlformats.org/officeDocument/2006/relationships/slide" Target="/ppt/slides/slide15.xml" Id="Ra2607c942d92449d" /><Relationship Type="http://schemas.openxmlformats.org/officeDocument/2006/relationships/slide" Target="/ppt/slides/slide16.xml" Id="R00b3bf04ff3b44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3ecb91276c42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cfdaf6967647ac" /><Relationship Type="http://schemas.openxmlformats.org/officeDocument/2006/relationships/notesMaster" Target="/ppt/notesMasters/notesMaster1.xml" Id="Rbcaad6a67d0e4c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a8c1cd54324ab6" /><Relationship Type="http://schemas.openxmlformats.org/officeDocument/2006/relationships/notesMaster" Target="/ppt/notesMasters/notesMaster1.xml" Id="R758c5e0e8cef4a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edebb1f02942f5" /><Relationship Type="http://schemas.openxmlformats.org/officeDocument/2006/relationships/notesMaster" Target="/ppt/notesMasters/notesMaster1.xml" Id="Reb537dcfcb4840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949ec6037547a4" /><Relationship Type="http://schemas.openxmlformats.org/officeDocument/2006/relationships/notesMaster" Target="/ppt/notesMasters/notesMaster1.xml" Id="R9a3b9089773b4e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24198855a14207" /><Relationship Type="http://schemas.openxmlformats.org/officeDocument/2006/relationships/notesMaster" Target="/ppt/notesMasters/notesMaster1.xml" Id="R4bb25cf3cdfd4a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cd269705144e36" /><Relationship Type="http://schemas.openxmlformats.org/officeDocument/2006/relationships/notesMaster" Target="/ppt/notesMasters/notesMaster1.xml" Id="Rc19e2d07890046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de9a99db7f4531" /><Relationship Type="http://schemas.openxmlformats.org/officeDocument/2006/relationships/notesMaster" Target="/ppt/notesMasters/notesMaster1.xml" Id="R8faf0c6d8dc046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7a35576eb848b3" /><Relationship Type="http://schemas.openxmlformats.org/officeDocument/2006/relationships/notesMaster" Target="/ppt/notesMasters/notesMaster1.xml" Id="R2edb3be7614640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8f3e6e5bdc4453" /><Relationship Type="http://schemas.openxmlformats.org/officeDocument/2006/relationships/notesMaster" Target="/ppt/notesMasters/notesMaster1.xml" Id="R9c795d6ca3f84e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2b232453b9417c" /><Relationship Type="http://schemas.openxmlformats.org/officeDocument/2006/relationships/notesMaster" Target="/ppt/notesMasters/notesMaster1.xml" Id="Rc6deb9ce0d8043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03d2105bc84bdb" /><Relationship Type="http://schemas.openxmlformats.org/officeDocument/2006/relationships/notesMaster" Target="/ppt/notesMasters/notesMaster1.xml" Id="R4362173a55b547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c115517f2784d97" /><Relationship Type="http://schemas.openxmlformats.org/officeDocument/2006/relationships/notesMaster" Target="/ppt/notesMasters/notesMaster1.xml" Id="R989bf016676847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9569ef2be3f41cc" /><Relationship Type="http://schemas.openxmlformats.org/officeDocument/2006/relationships/notesMaster" Target="/ppt/notesMasters/notesMaster1.xml" Id="R9760d832a5d6403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261e38bf35e49a0" /><Relationship Type="http://schemas.openxmlformats.org/officeDocument/2006/relationships/notesMaster" Target="/ppt/notesMasters/notesMaster1.xml" Id="Rb4e16b614fdc455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e3f0a51679c4e0e" /><Relationship Type="http://schemas.openxmlformats.org/officeDocument/2006/relationships/notesMaster" Target="/ppt/notesMasters/notesMaster1.xml" Id="R6f98378ee90f401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24b61bd198e4e25" /><Relationship Type="http://schemas.openxmlformats.org/officeDocument/2006/relationships/notesMaster" Target="/ppt/notesMasters/notesMaster1.xml" Id="R6d7c5e4f13de48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7377fca16d43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4b4c207e0c4f67" /><Relationship Type="http://schemas.openxmlformats.org/officeDocument/2006/relationships/slideLayout" Target="/ppt/slideLayouts/slideLayout1.xml" Id="R8b3f95f8d2614a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3f95f8d2614a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fce8ce0454b89" /><Relationship Type="http://schemas.openxmlformats.org/officeDocument/2006/relationships/image" Target="/ppt/media/image.png" Id="Rdea80656c56d45fe" /><Relationship Type="http://schemas.openxmlformats.org/officeDocument/2006/relationships/notesSlide" Target="/ppt/notesSlides/notesSlide1.xml" Id="R6614dc83844345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aea91decc49eb" /><Relationship Type="http://schemas.openxmlformats.org/officeDocument/2006/relationships/notesSlide" Target="/ppt/notesSlides/notesSlide2.xml" Id="Rc80a186031af4a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e2ed1d76a4a80" /><Relationship Type="http://schemas.openxmlformats.org/officeDocument/2006/relationships/notesSlide" Target="/ppt/notesSlides/notesSlide3.xml" Id="R46050b90107c4a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05799c0534d5c" /><Relationship Type="http://schemas.openxmlformats.org/officeDocument/2006/relationships/image" Target="/ppt/media/image2.png" Id="R7ef56b46588a45f9" /><Relationship Type="http://schemas.openxmlformats.org/officeDocument/2006/relationships/notesSlide" Target="/ppt/notesSlides/notesSlide4.xml" Id="R41eac47b31c943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d0042700f4538" /><Relationship Type="http://schemas.openxmlformats.org/officeDocument/2006/relationships/image" Target="/ppt/media/image3.png" Id="R6918846b5fe54ae1" /><Relationship Type="http://schemas.openxmlformats.org/officeDocument/2006/relationships/notesSlide" Target="/ppt/notesSlides/notesSlide5.xml" Id="R86bde87a08524b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49727b605425d" /><Relationship Type="http://schemas.openxmlformats.org/officeDocument/2006/relationships/image" Target="/ppt/media/image4.png" Id="Ra202956b3b1444ec" /><Relationship Type="http://schemas.openxmlformats.org/officeDocument/2006/relationships/notesSlide" Target="/ppt/notesSlides/notesSlide6.xml" Id="R925ae1c88dcc49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f040547624097" /><Relationship Type="http://schemas.openxmlformats.org/officeDocument/2006/relationships/notesSlide" Target="/ppt/notesSlides/notesSlide7.xml" Id="R767cbd976fdb42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d353a73494a9b" /><Relationship Type="http://schemas.openxmlformats.org/officeDocument/2006/relationships/notesSlide" Target="/ppt/notesSlides/notesSlide8.xml" Id="R01bd8925642f42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2bf6858c14258" /><Relationship Type="http://schemas.openxmlformats.org/officeDocument/2006/relationships/notesSlide" Target="/ppt/notesSlides/notesSlide9.xml" Id="R1e745ca7216341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cdfd38b4e494a" /><Relationship Type="http://schemas.openxmlformats.org/officeDocument/2006/relationships/image" Target="/ppt/media/image5.png" Id="R19b7637a492f4997" /><Relationship Type="http://schemas.openxmlformats.org/officeDocument/2006/relationships/notesSlide" Target="/ppt/notesSlides/notesSlide10.xml" Id="R04d70657185744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d045ac1d14100" /><Relationship Type="http://schemas.openxmlformats.org/officeDocument/2006/relationships/notesSlide" Target="/ppt/notesSlides/notesSlide11.xml" Id="R0e24a519c347495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dcf101acb4cbb" /><Relationship Type="http://schemas.openxmlformats.org/officeDocument/2006/relationships/notesSlide" Target="/ppt/notesSlides/notesSlide12.xml" Id="R02a891d6a8ba41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3b58b3db19483b" /><Relationship Type="http://schemas.openxmlformats.org/officeDocument/2006/relationships/notesSlide" Target="/ppt/notesSlides/notesSlide13.xml" Id="R1b1e28be80b2454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2a6676f0d450f" /><Relationship Type="http://schemas.openxmlformats.org/officeDocument/2006/relationships/notesSlide" Target="/ppt/notesSlides/notesSlide14.xml" Id="R7ed8f6ba0eef473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b17cbeaf1414c" /><Relationship Type="http://schemas.openxmlformats.org/officeDocument/2006/relationships/image" Target="/ppt/media/image6.png" Id="Rf6b63d526a4a48d9" /><Relationship Type="http://schemas.openxmlformats.org/officeDocument/2006/relationships/notesSlide" Target="/ppt/notesSlides/notesSlide15.xml" Id="Rf6f47f54a18b417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ee85951cf4523" /><Relationship Type="http://schemas.openxmlformats.org/officeDocument/2006/relationships/image" Target="/ppt/media/image7.png" Id="R3cfb2a933af446ad" /><Relationship Type="http://schemas.openxmlformats.org/officeDocument/2006/relationships/notesSlide" Target="/ppt/notesSlides/notesSlide16.xml" Id="Radf397b74ada48a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D8325F-F3A0-45E9-BB47-AE2EF1ED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a80656c56d45fe"/>
          <a:srcRect xmlns:a="http://schemas.openxmlformats.org/drawingml/2006/main" l="28113" t="0" r="281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6D656-378D-438D-834E-44AE1C26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804A7-833C-427C-B2AD-3563DE8B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BDB50-8BF5-4FD6-B42C-7B08C81B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4300" cy="114300"/>
          </a:xfrm>
          <a:prstGeom xmlns:a="http://schemas.openxmlformats.org/drawingml/2006/main" prst="rect">
            <a:avLst/>
          </a:prstGeom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139C3-E10F-4822-AE66-FEE1AC1E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34A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34A4A"/>
                </a:solidFill>
                <a:latin typeface="Aptos"/>
                <a:ea typeface="Aptos"/>
                <a:cs typeface="Aptos"/>
              </a:rPr>
              <a:t>SYSTEM 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E4063-55DB-4E9E-891F-75C1EB61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60960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上位机已经具备联调准备版能力，但最终验收仍要补外部证据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70DB4-68CE-439E-AC46-1BA2D51F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5334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872"/>
                </a:solidFill>
                <a:latin typeface="Aptos"/>
                <a:ea typeface="Aptos"/>
                <a:cs typeface="Aptos"/>
              </a:rPr>
              <a:t>Position the RK/PC edge console, not the entire reactor program, as the current deliverable.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30A88B-E9C0-42BF-A593-DBF9D1BA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132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CC2DC3-4BA9-401F-A194-D3D077D7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523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负责 Web HMI、REST API、CLI、SQLite 数据、审计链、安全门控、第三方接口和 AI 推荐入口。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0CCC5D-8ED8-43D6-B7E2-1427290D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782A3E-FF96-42B1-A03D-FE5B06C3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523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对下连接 STM32/Modbus/JSON bridge；对上连接用户、AINAS、MQTT、第三方 REST 和导出文件。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35DD84-CB06-4BC7-BAF1-0DBC2B95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B9DC0C-1BC4-48AB-A155-5829751B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523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当前不能宣称 PRD 全量完成：真实硬件、真实 Qwen/LoRA、外部平台、安全扫描和签字仍需补证。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D73B26-ABFB-40A8-937D-FFCB4444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4476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872"/>
                </a:solidFill>
                <a:latin typeface="Aptos"/>
                <a:ea typeface="Aptos"/>
                <a:cs typeface="Aptos"/>
              </a:rPr>
              <a:t>Current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58E501-D4D8-4612-A80C-4F95D9A8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1428750" cy="552450"/>
          </a:xfrm>
          <a:prstGeom xmlns:a="http://schemas.openxmlformats.org/drawingml/2006/main" prst="rect">
            <a:avLst/>
          </a:prstGeom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ABE43B-4E41-4F40-B56B-A1EB41B0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86350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5D7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5D7C"/>
                </a:solidFill>
                <a:latin typeface="Aptos"/>
                <a:ea typeface="Aptos"/>
                <a:cs typeface="Aptos"/>
              </a:rPr>
              <a:t>HMI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3CF591-996B-42D0-94F6-EB0EED39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67325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七路由 + 中英 + 浏览器矩阵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A5F8D8-F655-433B-A48F-2DEACBD0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10150"/>
            <a:ext cx="1428750" cy="552450"/>
          </a:xfrm>
          <a:prstGeom xmlns:a="http://schemas.openxmlformats.org/drawingml/2006/main" prst="rect">
            <a:avLst/>
          </a:prstGeom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4E721C-8019-479D-A08B-B1D7BD04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086350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5D7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5D7C"/>
                </a:solidFill>
                <a:latin typeface="Aptos"/>
                <a:ea typeface="Aptos"/>
                <a:cs typeface="Aptos"/>
              </a:rPr>
              <a:t>Safety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68884F-1DDF-4416-93D6-61817EBC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267325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RBAC + safety guard + 审计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74FC0F-BEBF-4280-93A0-4668EDD3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010150"/>
            <a:ext cx="1428750" cy="552450"/>
          </a:xfrm>
          <a:prstGeom xmlns:a="http://schemas.openxmlformats.org/drawingml/2006/main" prst="rect">
            <a:avLst/>
          </a:prstGeom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B96BA7-C0A5-4919-9B40-A4C4532F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086350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5D7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5D7C"/>
                </a:solidFill>
                <a:latin typeface="Aptos"/>
                <a:ea typeface="Aptos"/>
                <a:cs typeface="Aptos"/>
              </a:rPr>
              <a:t>Interfaces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993A56-AB86-43EF-9F86-7551E8FE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267325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REST + AINAS + MQTT + Modbus map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BC3FE6-51C2-4808-AFA8-207C3400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87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C1E817-2590-4051-90F0-E5B0CB7A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15100"/>
            <a:ext cx="6953250" cy="9525"/>
          </a:xfrm>
          <a:prstGeom xmlns:a="http://schemas.openxmlformats.org/drawingml/2006/main" prst="rect">
            <a:avLst/>
          </a:prstGeom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D289C9-C624-421A-A294-AC45F478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3817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2"/>
                </a:solidFill>
                <a:latin typeface="Aptos"/>
                <a:ea typeface="Aptos"/>
                <a:cs typeface="Aptos"/>
              </a:rPr>
              <a:t>Source: docs/upper_computer_current_gap_summary_for_lizuyi.md</a:t>
            </a:r>
          </a:p>
        </p:txBody>
      </p:sp>
    </p:spTree>
    <p:extLst>
      <p:ext uri="{BB962C8B-B14F-4D97-AF65-F5344CB8AC3E}">
        <p14:creationId xmlns:p14="http://schemas.microsoft.com/office/powerpoint/2010/main" val="2633920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FE2FC5-21E0-464F-B363-E08D2CC3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8E790-6497-4052-9C8C-3471BF4E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E7150-0DDA-4FCB-A763-87260797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4300" cy="114300"/>
          </a:xfrm>
          <a:prstGeom xmlns:a="http://schemas.openxmlformats.org/drawingml/2006/main" prst="rect">
            <a:avLst/>
          </a:prstGeom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6F1C0-3A34-4601-B9F2-7FDA87A8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34A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34A4A"/>
                </a:solidFill>
                <a:latin typeface="Aptos"/>
                <a:ea typeface="Aptos"/>
                <a:cs typeface="Aptos"/>
              </a:rPr>
              <a:t>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4C809-0B33-4684-937F-D28A3148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0287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采集、控制、AI 和审计共用一条受控数据链路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96CAC-852F-4582-9AC2-7541C4C2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5334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872"/>
                </a:solidFill>
                <a:latin typeface="Aptos"/>
                <a:ea typeface="Aptos"/>
                <a:cs typeface="Aptos"/>
              </a:rPr>
              <a:t>Every command path must converge before device write.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DC9B9-9B31-4180-A0FE-3E6BED4D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F111D-5786-49A4-B95B-6CF631A8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采集：STM32/样本入口进入 daemon、SQLite、实时监控和历史曲线。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38AB1-897F-428C-8E7D-E4D2ACCB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06C33C-65E0-4D1E-945D-D44C6D79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控制：HMI/CLI/AI/AINAS/MQTT/Modbus debug 先过 RBAC、reason 和 safety guard。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6957B-D253-4AA3-91F2-7C2BC871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FEA77-0066-434D-817C-F7F7F6CF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追溯：控制、导出、AI 和第三方任务写入 control_events hash chain。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F218FE-96A2-4932-9865-38E9EC7F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952500" cy="723900"/>
          </a:xfrm>
          <a:prstGeom xmlns:a="http://schemas.openxmlformats.org/drawingml/2006/main" prst="rect">
            <a:avLst/>
          </a:prstGeom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60599F-42C4-482E-85E0-61C74526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52800"/>
            <a:ext cx="800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Device / STM32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F2ADA6-E727-4A96-9824-CB9764C1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67100"/>
            <a:ext cx="266700" cy="209550"/>
          </a:xfrm>
          <a:prstGeom xmlns:a="http://schemas.openxmlformats.org/drawingml/2006/main" prst="chevron">
            <a:avLst/>
          </a:prstGeom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8B3493-B00B-4518-ACA7-7EF4867D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19450"/>
            <a:ext cx="952500" cy="723900"/>
          </a:xfrm>
          <a:prstGeom xmlns:a="http://schemas.openxmlformats.org/drawingml/2006/main" prst="rect">
            <a:avLst/>
          </a:prstGeom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B742FA-C86A-4EF9-8D74-D2EEF209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52800"/>
            <a:ext cx="800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daemon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30A906-C3F8-4890-A3C1-6F3AC9F7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67100"/>
            <a:ext cx="266700" cy="209550"/>
          </a:xfrm>
          <a:prstGeom xmlns:a="http://schemas.openxmlformats.org/drawingml/2006/main" prst="chevron">
            <a:avLst/>
          </a:prstGeom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3CB7D5-677F-44A9-8A70-4C23DDB3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19450"/>
            <a:ext cx="952500" cy="723900"/>
          </a:xfrm>
          <a:prstGeom xmlns:a="http://schemas.openxmlformats.org/drawingml/2006/main" prst="rect">
            <a:avLst/>
          </a:prstGeom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17DFA1-4558-466B-BE0A-FA52E52F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52800"/>
            <a:ext cx="800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SQLite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DC2B6B-068F-4390-8500-F4811D8C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67100"/>
            <a:ext cx="266700" cy="209550"/>
          </a:xfrm>
          <a:prstGeom xmlns:a="http://schemas.openxmlformats.org/drawingml/2006/main" prst="chevron">
            <a:avLst/>
          </a:prstGeom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7888A0-BE65-4E5E-A632-ECFED15B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19450"/>
            <a:ext cx="952500" cy="723900"/>
          </a:xfrm>
          <a:prstGeom xmlns:a="http://schemas.openxmlformats.org/drawingml/2006/main" prst="rect">
            <a:avLst/>
          </a:prstGeom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C111F9-DBAC-4028-861D-B2262EB0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352800"/>
            <a:ext cx="800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HMI / CLI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01438D-A372-420E-AEE0-A0E82E99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467100"/>
            <a:ext cx="266700" cy="209550"/>
          </a:xfrm>
          <a:prstGeom xmlns:a="http://schemas.openxmlformats.org/drawingml/2006/main" prst="chevron">
            <a:avLst/>
          </a:prstGeom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F33666-9CB3-4B17-A370-09929146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219450"/>
            <a:ext cx="952500" cy="723900"/>
          </a:xfrm>
          <a:prstGeom xmlns:a="http://schemas.openxmlformats.org/drawingml/2006/main" prst="rect">
            <a:avLst/>
          </a:prstGeom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314DED-F9AA-4336-B032-5C37266D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352800"/>
            <a:ext cx="800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2FBA97-CDAA-4BF9-9655-165E7755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8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729DC4-46F6-49B5-9E97-6364C00E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15100"/>
            <a:ext cx="6953250" cy="9525"/>
          </a:xfrm>
          <a:prstGeom xmlns:a="http://schemas.openxmlformats.org/drawingml/2006/main" prst="rect">
            <a:avLst/>
          </a:prstGeom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01D735-D9A9-45EB-BF8A-3633F62A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3817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2"/>
                </a:solidFill>
                <a:latin typeface="Aptos"/>
                <a:ea typeface="Aptos"/>
                <a:cs typeface="Aptos"/>
              </a:rPr>
              <a:t>Source: docs/upper_computer_development_doc.md</a:t>
            </a:r>
          </a:p>
        </p:txBody>
      </p:sp>
    </p:spTree>
    <p:extLst>
      <p:ext uri="{BB962C8B-B14F-4D97-AF65-F5344CB8AC3E}">
        <p14:creationId xmlns:p14="http://schemas.microsoft.com/office/powerpoint/2010/main" val="1524210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EE1581-29EB-4BD1-B2DF-FBE8A201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92D86-02D3-4269-A83C-ADFAD2EF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663F7-7DFB-4A6D-A02B-900BFAED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4300" cy="114300"/>
          </a:xfrm>
          <a:prstGeom xmlns:a="http://schemas.openxmlformats.org/drawingml/2006/main" prst="rect">
            <a:avLst/>
          </a:prstGeom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7EFFB-FA72-41F4-8E4A-9C519EA6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34A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34A4A"/>
                </a:solidFill>
                <a:latin typeface="Aptos"/>
                <a:ea typeface="Aptos"/>
                <a:cs typeface="Aptos"/>
              </a:rPr>
              <a:t>RBAC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883E3-ECA9-4E62-A13D-B889B9BF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0287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日常操作、工程调试和管理员维护必须分权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779C5-3B95-43EB-9399-C13CDD1A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5334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872"/>
                </a:solidFill>
                <a:latin typeface="Aptos"/>
                <a:ea typeface="Aptos"/>
                <a:cs typeface="Aptos"/>
              </a:rPr>
              <a:t>权限通过不是安全通过，所有写入仍受 safety guard 约束。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1C79B-9DC1-4813-B18E-743469D4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5D0E6-55A5-4FE3-8738-53E46D33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operator 用于日常监控、历史查询和基础操作。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5E8F3-A63D-4875-A663-D69371BB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EF3DA-7599-4E29-8EE1-06AF0235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engineer 用于联调诊断，不应作为生产值守账号。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631B7-7CE7-4589-934A-F19EF642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ECC1E4-37C7-416D-B5D4-18143950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admin 用于高危配置和调试写入，必须留下审计 reason。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7CECF4-B0D8-4F5B-AF97-BFBCBF88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1257300" cy="514350"/>
          </a:xfrm>
          <a:prstGeom xmlns:a="http://schemas.openxmlformats.org/drawingml/2006/main" prst="rect">
            <a:avLst/>
          </a:prstGeom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8CF1B0-FE86-4A3E-8774-5F37755C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47925"/>
            <a:ext cx="1066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D8B98C-6357-43B3-8D83-39D0E700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62200"/>
            <a:ext cx="1619250" cy="514350"/>
          </a:xfrm>
          <a:prstGeom xmlns:a="http://schemas.openxmlformats.org/drawingml/2006/main" prst="rect">
            <a:avLst/>
          </a:prstGeom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E9C777-3299-4169-964E-C79EE5B8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47925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Typical scope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A4BEB7-D5EB-4CB2-84D4-28A39228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62200"/>
            <a:ext cx="1885950" cy="514350"/>
          </a:xfrm>
          <a:prstGeom xmlns:a="http://schemas.openxmlformats.org/drawingml/2006/main" prst="rect">
            <a:avLst/>
          </a:prstGeom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E486B2-8337-4DBA-8C22-472523C9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47925"/>
            <a:ext cx="1695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Training emphasis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F8A92A-56A9-436E-86A1-7BC9BE95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1257300" cy="514350"/>
          </a:xfrm>
          <a:prstGeom xmlns:a="http://schemas.openxmlformats.org/drawingml/2006/main" prst="rect">
            <a:avLst/>
          </a:prstGeom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C31CEE-0B37-4964-BABA-E5390338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38475"/>
            <a:ext cx="1066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operator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0DB654-1E4B-4746-8872-BBF2D2D2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52750"/>
            <a:ext cx="1619250" cy="514350"/>
          </a:xfrm>
          <a:prstGeom xmlns:a="http://schemas.openxmlformats.org/drawingml/2006/main" prst="rect">
            <a:avLst/>
          </a:prstGeom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04175E-26DD-46DE-9962-8E27C475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38475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Monitor / History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3116F4-57C0-4F21-AE08-7466AA7E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52750"/>
            <a:ext cx="1885950" cy="514350"/>
          </a:xfrm>
          <a:prstGeom xmlns:a="http://schemas.openxmlformats.org/drawingml/2006/main" prst="rect">
            <a:avLst/>
          </a:prstGeom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324C93-A0A7-4876-8023-A1DFBA4E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38475"/>
            <a:ext cx="1695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日常账号，避免高危调试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49BA97-8FEC-42C2-9C0D-2BE09938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43300"/>
            <a:ext cx="1257300" cy="514350"/>
          </a:xfrm>
          <a:prstGeom xmlns:a="http://schemas.openxmlformats.org/drawingml/2006/main" prst="rect">
            <a:avLst/>
          </a:prstGeom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466822-2314-40D0-B01A-FC4D31D9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29025"/>
            <a:ext cx="1066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engineer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912833-7E9E-4514-87F2-2140FB5B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43300"/>
            <a:ext cx="1619250" cy="514350"/>
          </a:xfrm>
          <a:prstGeom xmlns:a="http://schemas.openxmlformats.org/drawingml/2006/main" prst="rect">
            <a:avLst/>
          </a:prstGeom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C2CCA8-5B5E-4B8C-9446-9E6CAF95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29025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Debug / validation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11B5C0-D129-440E-8B0E-3E23BD59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43300"/>
            <a:ext cx="1885950" cy="514350"/>
          </a:xfrm>
          <a:prstGeom xmlns:a="http://schemas.openxmlformats.org/drawingml/2006/main" prst="rect">
            <a:avLst/>
          </a:prstGeom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B904EF-C69B-4908-8619-059847D6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29025"/>
            <a:ext cx="1695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调试账号，仍受安全限制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49C007-8BE8-4C43-9C42-D9D6C0D0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33850"/>
            <a:ext cx="1257300" cy="514350"/>
          </a:xfrm>
          <a:prstGeom xmlns:a="http://schemas.openxmlformats.org/drawingml/2006/main" prst="rect">
            <a:avLst/>
          </a:prstGeom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60E78A-DB69-4A44-B251-52FDF5B6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9575"/>
            <a:ext cx="1066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6368BE-C978-42E6-AC24-9EB5664B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33850"/>
            <a:ext cx="1619250" cy="514350"/>
          </a:xfrm>
          <a:prstGeom xmlns:a="http://schemas.openxmlformats.org/drawingml/2006/main" prst="rect">
            <a:avLst/>
          </a:prstGeom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FBF3EF-7938-484D-9695-06147378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19575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Maintenance / write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2C2AFB-6DFE-4B35-B4A1-758DF2D0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33850"/>
            <a:ext cx="1885950" cy="514350"/>
          </a:xfrm>
          <a:prstGeom xmlns:a="http://schemas.openxmlformats.org/drawingml/2006/main" prst="rect">
            <a:avLst/>
          </a:prstGeom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7EA57D-7676-4A0D-8EDB-52331660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219575"/>
            <a:ext cx="1695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高危账号，必须审计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AD81D0-D85E-417A-9571-9AC73FFF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87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EF5DA5-48C3-4A9E-8D41-29FEE5CE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15100"/>
            <a:ext cx="6953250" cy="9525"/>
          </a:xfrm>
          <a:prstGeom xmlns:a="http://schemas.openxmlformats.org/drawingml/2006/main" prst="rect">
            <a:avLst/>
          </a:prstGeom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A8C0F7-174A-45E9-A586-F961D016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3817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2"/>
                </a:solidFill>
                <a:latin typeface="Aptos"/>
                <a:ea typeface="Aptos"/>
                <a:cs typeface="Aptos"/>
              </a:rPr>
              <a:t>Source: docs/upper_computer_user_manual.md</a:t>
            </a:r>
          </a:p>
        </p:txBody>
      </p:sp>
    </p:spTree>
    <p:extLst>
      <p:ext uri="{BB962C8B-B14F-4D97-AF65-F5344CB8AC3E}">
        <p14:creationId xmlns:p14="http://schemas.microsoft.com/office/powerpoint/2010/main" val="202804351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CFE18D-8C9B-4002-8064-59B92453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f56b46588a45f9"/>
          <a:srcRect xmlns:a="http://schemas.openxmlformats.org/drawingml/2006/main" l="29286" t="0" r="292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0" y="0"/>
            <a:ext cx="50482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E84C4-7876-4FA7-BAD9-345E167F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24750" cy="6858000"/>
          </a:xfrm>
          <a:prstGeom xmlns:a="http://schemas.openxmlformats.org/drawingml/2006/main" prst="rect">
            <a:avLst/>
          </a:prstGeom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3DA68-E3A4-417C-BD49-AB4A58EC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55C1E-9E01-4EA0-9511-F3F47D8A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4300" cy="114300"/>
          </a:xfrm>
          <a:prstGeom xmlns:a="http://schemas.openxmlformats.org/drawingml/2006/main" prst="rect">
            <a:avLst/>
          </a:prstGeom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EF31D9-0857-4E13-8C6B-BBAC3548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34A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34A4A"/>
                </a:solidFill>
                <a:latin typeface="Aptos"/>
                <a:ea typeface="Aptos"/>
                <a:cs typeface="Aptos"/>
              </a:rPr>
              <a:t>MONITOR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DF0E5-BBEF-4B62-8112-C1F18595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6096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实时监控页要同时看当前值、趋势、健康和报警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CB704-768B-4581-B251-E8630247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5334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872"/>
                </a:solidFill>
                <a:latin typeface="Aptos"/>
                <a:ea typeface="Aptos"/>
                <a:cs typeface="Aptos"/>
              </a:rPr>
              <a:t>Normal data and abnormal data must be visually distinguishable.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0C98CB-5089-4187-8A11-DA9BEADC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C8E98C-D657-4C1C-A09D-CC5E69E0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523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正常样本应刷新温度、压力、搅拌、流量等指标和趋势图。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FD2F35-B98A-4B9D-B3B8-89FE7EC1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3852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CA0C3C-9A31-4055-8124-91900A3E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523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越限样本应显示报警级别、类型、当前值、限值和建议。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7391B2-05BC-44B1-92F4-7B38B286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576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E5BD62-36BC-4DEF-9251-D53B6EF4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523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无新鲜样本时不得误导用户继续按正常状态操作。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02AA4D-72AD-480E-9585-074E0C88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4476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872"/>
                </a:solidFill>
                <a:latin typeface="Aptos"/>
                <a:ea typeface="Aptos"/>
                <a:cs typeface="Aptos"/>
              </a:rPr>
              <a:t>Verified screenshots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9298EA-E83A-4017-A9E6-F42B3E37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1428750" cy="552450"/>
          </a:xfrm>
          <a:prstGeom xmlns:a="http://schemas.openxmlformats.org/drawingml/2006/main" prst="rect">
            <a:avLst/>
          </a:prstGeom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8548C2-9736-4BA9-8090-076036BF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86350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57D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57D62"/>
                </a:solidFill>
                <a:latin typeface="Aptos"/>
                <a:ea typeface="Aptos"/>
                <a:cs typeface="Aptos"/>
              </a:rPr>
              <a:t>ZH alarm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5F37E6-127A-4603-9B31-562E5A54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67325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Chinese alarm 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57835B-5DDA-4FEC-87E4-E071009A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10150"/>
            <a:ext cx="1428750" cy="552450"/>
          </a:xfrm>
          <a:prstGeom xmlns:a="http://schemas.openxmlformats.org/drawingml/2006/main" prst="rect">
            <a:avLst/>
          </a:prstGeom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242F74-E3A2-4288-891F-54B4CF87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086350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57D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57D62"/>
                </a:solidFill>
                <a:latin typeface="Aptos"/>
                <a:ea typeface="Aptos"/>
                <a:cs typeface="Aptos"/>
              </a:rPr>
              <a:t>EN alarm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B59A36-992D-448E-A2E2-D02BA7D5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267325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English alarm 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B1EB49-D827-449F-9120-C65B7C64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8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EDF241-51FB-44C8-8C25-EF7AE5E0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15100"/>
            <a:ext cx="6953250" cy="9525"/>
          </a:xfrm>
          <a:prstGeom xmlns:a="http://schemas.openxmlformats.org/drawingml/2006/main" prst="rect">
            <a:avLst/>
          </a:prstGeom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731792-7018-4391-82C1-E7B63C9B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3817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2"/>
                </a:solidFill>
                <a:latin typeface="Aptos"/>
                <a:ea typeface="Aptos"/>
                <a:cs typeface="Aptos"/>
              </a:rPr>
              <a:t>Source: docs/upper_computer_visual_evidence_index.md</a:t>
            </a:r>
          </a:p>
        </p:txBody>
      </p:sp>
    </p:spTree>
    <p:extLst>
      <p:ext uri="{BB962C8B-B14F-4D97-AF65-F5344CB8AC3E}">
        <p14:creationId xmlns:p14="http://schemas.microsoft.com/office/powerpoint/2010/main" val="152845960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DC20C6-2B30-4780-BBCA-8DCE2D1F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18846b5fe54ae1"/>
          <a:srcRect xmlns:a="http://schemas.openxmlformats.org/drawingml/2006/main" l="29286" t="0" r="292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0" y="0"/>
            <a:ext cx="50482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EC22D-C9C4-4B76-9AAD-B4114BCE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24750" cy="6858000"/>
          </a:xfrm>
          <a:prstGeom xmlns:a="http://schemas.openxmlformats.org/drawingml/2006/main" prst="rect">
            <a:avLst/>
          </a:prstGeom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DB999-D8B0-48BF-97F5-AA0FA6CE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C45EEA-5122-4B97-BF90-21DB1D05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4300" cy="114300"/>
          </a:xfrm>
          <a:prstGeom xmlns:a="http://schemas.openxmlformats.org/drawingml/2006/main" prst="rect">
            <a:avLst/>
          </a:prstGeom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01B9C-21FD-4B74-8A4A-D6B78231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34A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34A4A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21A680-FAF4-404D-9922-7D89A184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6096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合法目标可以提交，危险目标必须被拒绝并可追溯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D10AC2-2BB9-4CC9-A750-80A1DC0F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5334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872"/>
                </a:solidFill>
                <a:latin typeface="Aptos"/>
                <a:ea typeface="Aptos"/>
                <a:cs typeface="Aptos"/>
              </a:rPr>
              <a:t>Safety rejection is a product feature, not a usability bug.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13A63-505A-4F02-AAAE-C9A37FB5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CA919-5A9C-4765-8DDB-94447D14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523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范围、单次步长、急停、人工锁、传感器超时和温度-转速禁区同时生效。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A45DD-4C9C-47C5-86C4-FD955EFD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3852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AAE827-22CB-4FB2-A41A-306BAB02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523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HMI、CLI、AI、AINAS、MQTT 和 Modbus 调试写入都不能绕过安全链路。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49526E-D99A-4031-893F-8A24D308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576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439397-1C2F-423A-A213-DDD3D0BA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523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每次通过或拒绝都应能在审计页定位角色、动作、reason 和结果。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490F3D-97DF-45F1-969E-970C10D6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4476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872"/>
                </a:solidFill>
                <a:latin typeface="Aptos"/>
                <a:ea typeface="Aptos"/>
                <a:cs typeface="Aptos"/>
              </a:rPr>
              <a:t>Safety gates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B61ED0-0E62-4654-9F12-52926C32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1428750" cy="552450"/>
          </a:xfrm>
          <a:prstGeom xmlns:a="http://schemas.openxmlformats.org/drawingml/2006/main" prst="rect">
            <a:avLst/>
          </a:prstGeom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63D5B2-BB77-4081-8995-2DD6A585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86350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5D7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5D7C"/>
                </a:solidFill>
                <a:latin typeface="Aptos"/>
                <a:ea typeface="Aptos"/>
                <a:cs typeface="Aptos"/>
              </a:rPr>
              <a:t>Range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E10312-059D-4D66-90D7-08BCB761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67325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min / max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B59D9F-2F3B-408C-A036-D70FB847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10150"/>
            <a:ext cx="1428750" cy="552450"/>
          </a:xfrm>
          <a:prstGeom xmlns:a="http://schemas.openxmlformats.org/drawingml/2006/main" prst="rect">
            <a:avLst/>
          </a:prstGeom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466347-3699-46E2-A39B-7E3D8448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086350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5D7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5D7C"/>
                </a:solidFill>
                <a:latin typeface="Aptos"/>
                <a:ea typeface="Aptos"/>
                <a:cs typeface="Aptos"/>
              </a:rPr>
              <a:t>Step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F22792-3EF9-4C04-A373-517D11DC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267325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delta limit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6BFAF4-5DE5-4AE0-A418-3682CCBB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010150"/>
            <a:ext cx="1428750" cy="552450"/>
          </a:xfrm>
          <a:prstGeom xmlns:a="http://schemas.openxmlformats.org/drawingml/2006/main" prst="rect">
            <a:avLst/>
          </a:prstGeom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A92302-FE10-4433-A1D7-AAEEA4D9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086350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5D7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5D7C"/>
                </a:solidFill>
                <a:latin typeface="Aptos"/>
                <a:ea typeface="Aptos"/>
                <a:cs typeface="Aptos"/>
              </a:rPr>
              <a:t>Interlock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4DAF22-7CA4-49C7-B602-4AAF0D9B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267325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E-stop / lock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830A1D-CCCF-4568-BAD3-72ACCD5B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8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E8F28C-F5CC-471F-89C5-F9179E98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15100"/>
            <a:ext cx="6953250" cy="9525"/>
          </a:xfrm>
          <a:prstGeom xmlns:a="http://schemas.openxmlformats.org/drawingml/2006/main" prst="rect">
            <a:avLst/>
          </a:prstGeom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631832-3D6F-49AF-B5B9-584C2B42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3817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2"/>
                </a:solidFill>
                <a:latin typeface="Aptos"/>
                <a:ea typeface="Aptos"/>
                <a:cs typeface="Aptos"/>
              </a:rPr>
              <a:t>Source: config/safety.toml</a:t>
            </a:r>
          </a:p>
        </p:txBody>
      </p:sp>
    </p:spTree>
    <p:extLst>
      <p:ext uri="{BB962C8B-B14F-4D97-AF65-F5344CB8AC3E}">
        <p14:creationId xmlns:p14="http://schemas.microsoft.com/office/powerpoint/2010/main" val="64090189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FA25D8-C829-48A7-80CD-1520782B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2956b3b1444ec"/>
          <a:srcRect xmlns:a="http://schemas.openxmlformats.org/drawingml/2006/main" l="29286" t="0" r="292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0" y="0"/>
            <a:ext cx="50482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2EE7D-D453-4D80-A84E-7BC21246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24750" cy="6858000"/>
          </a:xfrm>
          <a:prstGeom xmlns:a="http://schemas.openxmlformats.org/drawingml/2006/main" prst="rect">
            <a:avLst/>
          </a:prstGeom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3E409-4DD9-4388-8BAE-C34176A7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7A2210-E043-4F68-8957-A6B612CB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4300" cy="114300"/>
          </a:xfrm>
          <a:prstGeom xmlns:a="http://schemas.openxmlformats.org/drawingml/2006/main" prst="rect">
            <a:avLst/>
          </a:prstGeom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B9278-6763-4701-AE98-01AB5BF2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34A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34A4A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7A6367-FDCE-480E-9639-AD1E8ABE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60960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175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AI 页面承担建议和复核，不承担绕过人工审核的自动执行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5CB91-1B51-4A88-9BB2-9BE664D9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5334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872"/>
                </a:solidFill>
                <a:latin typeface="Aptos"/>
                <a:ea typeface="Aptos"/>
                <a:cs typeface="Aptos"/>
              </a:rPr>
              <a:t>Dry-run, SOP draft and execute must remain visibly separate.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6C95A-3755-4EDE-B581-E6404A8F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132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B802C2-1CCC-45BA-BA8C-7BB10A8C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523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AI 推荐可展示目标、rationale、provider/stale/fallback 状态。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85337D-894C-4120-8CC5-1A240E77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ABCF7C-BC69-4721-8B66-5763752D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523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AI master-control dry-run 展示决策摘要、动作复核、安全门控和推荐目标。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B79D-FEB5-4335-9E97-AEF656EE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9AAFE-CD0D-434A-9F2E-91C36012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523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本地 LoRA 已有数据集导出和训练编排边界，但真实权重、GGUF 和 RK 延迟仍未验收。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EF4645-4FFB-4D1F-B274-657538C9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8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2D8BD8-4138-4678-B2BA-07D9BA35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15100"/>
            <a:ext cx="6953250" cy="9525"/>
          </a:xfrm>
          <a:prstGeom xmlns:a="http://schemas.openxmlformats.org/drawingml/2006/main" prst="rect">
            <a:avLst/>
          </a:prstGeom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15F893-C918-410B-AFD9-400F840D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3817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2"/>
                </a:solidFill>
                <a:latin typeface="Aptos"/>
                <a:ea typeface="Aptos"/>
                <a:cs typeface="Aptos"/>
              </a:rPr>
              <a:t>Source: docs/local_ai_adapter_status_addendum.md</a:t>
            </a:r>
          </a:p>
        </p:txBody>
      </p:sp>
    </p:spTree>
    <p:extLst>
      <p:ext uri="{BB962C8B-B14F-4D97-AF65-F5344CB8AC3E}">
        <p14:creationId xmlns:p14="http://schemas.microsoft.com/office/powerpoint/2010/main" val="2775349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005265-3023-4F76-818C-2BF1AE77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3472B-2236-4771-83CC-82A77DFE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DF877-3D12-44EC-9232-6CCCF3FA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4300" cy="114300"/>
          </a:xfrm>
          <a:prstGeom xmlns:a="http://schemas.openxmlformats.org/drawingml/2006/main" prst="rect">
            <a:avLst/>
          </a:prstGeom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79FD7-76F5-48C9-9FEA-F08C3AC4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34A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34A4A"/>
                </a:solidFill>
                <a:latin typeface="Aptos"/>
                <a:ea typeface="Aptos"/>
                <a:cs typeface="Aptos"/>
              </a:rPr>
              <a:t>PROCESS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28B0F-8BAA-4FF3-86BB-B1B29055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0287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工艺探索验收要覆盖从批次开始到结果录入的闭环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5FEED-E2B9-4827-92AA-2021CB05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5334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872"/>
                </a:solidFill>
                <a:latin typeface="Aptos"/>
                <a:ea typeface="Aptos"/>
                <a:cs typeface="Aptos"/>
              </a:rPr>
              <a:t>The page is not complete if it only shows live telemetry.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68AE1-887F-4B1B-8F4E-3DB0DF90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4DF9D-6C6F-4B16-97B9-11DC7AF6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创建或选择批次，记录目标条件和运行状态。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A95721-004B-4868-B373-455A87B1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A1D8AE-21D8-490F-82FB-C8232A20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运行期间采集样本，必要时暂停、恢复或停止。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23ADC6-67D2-4D1F-8585-D1ACEFDA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CBF94D-2483-473F-BAA1-319C461E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结束后录入产率、产物比例和备注，再导出报告。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5F2F29-6591-472C-8DDD-548CE488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800100" cy="723900"/>
          </a:xfrm>
          <a:prstGeom xmlns:a="http://schemas.openxmlformats.org/drawingml/2006/main" prst="rect">
            <a:avLst/>
          </a:prstGeom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B0E911-4C4C-4918-A0DB-AA19A2CC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52800"/>
            <a:ext cx="647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Prepare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1AE6F6-9D58-41C0-966E-819DFDAD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67100"/>
            <a:ext cx="190500" cy="209550"/>
          </a:xfrm>
          <a:prstGeom xmlns:a="http://schemas.openxmlformats.org/drawingml/2006/main" prst="chevron">
            <a:avLst/>
          </a:prstGeom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DF975E-FE85-4B67-8430-AACF882B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19450"/>
            <a:ext cx="800100" cy="723900"/>
          </a:xfrm>
          <a:prstGeom xmlns:a="http://schemas.openxmlformats.org/drawingml/2006/main" prst="rect">
            <a:avLst/>
          </a:prstGeom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784EBE-9DBD-403D-8A4C-5C2881D1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52800"/>
            <a:ext cx="647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Start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3D4CAB-20E7-4759-93D2-F4A6D768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67100"/>
            <a:ext cx="190500" cy="209550"/>
          </a:xfrm>
          <a:prstGeom xmlns:a="http://schemas.openxmlformats.org/drawingml/2006/main" prst="chevron">
            <a:avLst/>
          </a:prstGeom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7AE94A-6350-480E-8A0F-A9D4C609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19450"/>
            <a:ext cx="800100" cy="723900"/>
          </a:xfrm>
          <a:prstGeom xmlns:a="http://schemas.openxmlformats.org/drawingml/2006/main" prst="rect">
            <a:avLst/>
          </a:prstGeom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F66FC5-D90A-4FEB-892B-6E2CDCDC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52800"/>
            <a:ext cx="647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Run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E05051-2038-4CAC-8245-543825AF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67100"/>
            <a:ext cx="190500" cy="209550"/>
          </a:xfrm>
          <a:prstGeom xmlns:a="http://schemas.openxmlformats.org/drawingml/2006/main" prst="chevron">
            <a:avLst/>
          </a:prstGeom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CD5D03-8464-4B03-917A-6D6D8118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19450"/>
            <a:ext cx="800100" cy="723900"/>
          </a:xfrm>
          <a:prstGeom xmlns:a="http://schemas.openxmlformats.org/drawingml/2006/main" prst="rect">
            <a:avLst/>
          </a:prstGeom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FF4E2F-1B86-43A7-8EC7-A7574991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52800"/>
            <a:ext cx="647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Stop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85926D-944F-46BF-A7C2-713497E7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67100"/>
            <a:ext cx="190500" cy="209550"/>
          </a:xfrm>
          <a:prstGeom xmlns:a="http://schemas.openxmlformats.org/drawingml/2006/main" prst="chevron">
            <a:avLst/>
          </a:prstGeom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400285-1070-417E-8B7F-21D9F2BD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219450"/>
            <a:ext cx="800100" cy="723900"/>
          </a:xfrm>
          <a:prstGeom xmlns:a="http://schemas.openxmlformats.org/drawingml/2006/main" prst="rect">
            <a:avLst/>
          </a:prstGeom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373994-8559-4218-A35C-A9BC2BC2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352800"/>
            <a:ext cx="647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EF557D-CCD3-4FC8-A49F-192494DC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467100"/>
            <a:ext cx="190500" cy="209550"/>
          </a:xfrm>
          <a:prstGeom xmlns:a="http://schemas.openxmlformats.org/drawingml/2006/main" prst="chevron">
            <a:avLst/>
          </a:prstGeom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5ECB85-79CA-41DD-BD3D-090F020C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19450"/>
            <a:ext cx="800100" cy="723900"/>
          </a:xfrm>
          <a:prstGeom xmlns:a="http://schemas.openxmlformats.org/drawingml/2006/main" prst="rect">
            <a:avLst/>
          </a:prstGeom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1B103C-B318-4E6D-BD4D-B0DD5E93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352800"/>
            <a:ext cx="647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523EB5-8FFE-4390-8806-A569032D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87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1B9FCC-58B3-42A5-AD49-078B66B9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15100"/>
            <a:ext cx="6953250" cy="9525"/>
          </a:xfrm>
          <a:prstGeom xmlns:a="http://schemas.openxmlformats.org/drawingml/2006/main" prst="rect">
            <a:avLst/>
          </a:prstGeom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0B46F5-A2B8-4384-8CB5-8AD89BCD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3817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2"/>
                </a:solidFill>
                <a:latin typeface="Aptos"/>
                <a:ea typeface="Aptos"/>
                <a:cs typeface="Aptos"/>
              </a:rPr>
              <a:t>Source: output/playwright/vue-process-lifecycle-verification.json</a:t>
            </a:r>
          </a:p>
        </p:txBody>
      </p:sp>
    </p:spTree>
    <p:extLst>
      <p:ext uri="{BB962C8B-B14F-4D97-AF65-F5344CB8AC3E}">
        <p14:creationId xmlns:p14="http://schemas.microsoft.com/office/powerpoint/2010/main" val="13997800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79FA81-D8B9-4FCF-B4B6-610BAB13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AF6CEA-E6E9-495D-99B0-3075E539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00C0DA-DAFF-48B3-998B-F963B158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4300" cy="114300"/>
          </a:xfrm>
          <a:prstGeom xmlns:a="http://schemas.openxmlformats.org/drawingml/2006/main" prst="rect">
            <a:avLst/>
          </a:prstGeom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0ADDF-33F5-46D7-A64D-5340C75D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34A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34A4A"/>
                </a:solidFill>
                <a:latin typeface="Aptos"/>
                <a:ea typeface="Aptos"/>
                <a:cs typeface="Aptos"/>
              </a:rPr>
              <a:t>HISTORY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BDFF4-691E-4EAB-BF3E-9FDF097F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0287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历史页已经覆盖查询、结果录入和导出，现场还要补真实数据样本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FD930-FBFE-4BD0-9816-37F350FE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5334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872"/>
                </a:solidFill>
                <a:latin typeface="Aptos"/>
                <a:ea typeface="Aptos"/>
                <a:cs typeface="Aptos"/>
              </a:rPr>
              <a:t>Use History as the acceptance bridge from experiment execution to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88571-9B8B-4D5A-A14C-CD5A487B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F41D84-055F-419E-9790-96F6DC41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批次搜索、状态筛选、产物比例筛选和结果联动已纳入视觉 gate。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581EE-B6DA-437F-8CE8-B632E97D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EF2416-7F09-4FA5-97F9-F6E47200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产品结果录入、产率、产物比例、目标温度和 CSV/XLSX 下载已验证。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C5CCC1-07F2-423C-8548-5ECE9200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4EB731-CAF8-42CF-915A-43D4265B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最终验收需要真实实验样本和报告归档。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6A8124-B91D-4E9C-A078-23901E43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447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872"/>
                </a:solidFill>
                <a:latin typeface="Aptos"/>
                <a:ea typeface="Aptos"/>
                <a:cs typeface="Aptos"/>
              </a:rPr>
              <a:t>Verified outputs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302248-EF5C-42AD-872C-E4FD1B6C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14600"/>
            <a:ext cx="4762500" cy="495300"/>
          </a:xfrm>
          <a:prstGeom xmlns:a="http://schemas.openxmlformats.org/drawingml/2006/main" prst="rect">
            <a:avLst/>
          </a:prstGeom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2E8288-B8B6-4ECC-8DE6-4ED5F460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00325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7D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7D62"/>
                </a:solidFill>
                <a:latin typeface="Aptos"/>
                <a:ea typeface="Aptos"/>
                <a:cs typeface="Aptos"/>
              </a:rPr>
              <a:t>ZH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1903F7-0DEE-4472-989E-53DE3C4E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908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vue-parity-history-zh.png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8901B7-5063-4B8A-98CF-FCC6694B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62300"/>
            <a:ext cx="4762500" cy="495300"/>
          </a:xfrm>
          <a:prstGeom xmlns:a="http://schemas.openxmlformats.org/drawingml/2006/main" prst="rect">
            <a:avLst/>
          </a:prstGeom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8CC5DC-F7F4-4FBE-B5E7-68244A92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48025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7D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7D62"/>
                </a:solidFill>
                <a:latin typeface="Aptos"/>
                <a:ea typeface="Aptos"/>
                <a:cs typeface="Aptos"/>
              </a:rPr>
              <a:t>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F866A7-80D9-4968-AD1D-FF9B4C19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385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vue-parity-history-en.png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4215A6-FEF9-4758-AEEA-69E0AC19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4762500" cy="495300"/>
          </a:xfrm>
          <a:prstGeom xmlns:a="http://schemas.openxmlformats.org/drawingml/2006/main" prst="rect">
            <a:avLst/>
          </a:prstGeom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8F2C4B-B9D4-41E5-A0C6-8A1A86B2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95725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7D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7D62"/>
                </a:solidFill>
                <a:latin typeface="Aptos"/>
                <a:ea typeface="Aptos"/>
                <a:cs typeface="Aptos"/>
              </a:rPr>
              <a:t>Download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CC57BB-567B-41EF-B9F1-CBCF7B23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862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CSV click covered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EEF778-8058-42D0-B68E-E4EEAA42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87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7B6339-DB49-4074-A04C-3D747B79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15100"/>
            <a:ext cx="6953250" cy="9525"/>
          </a:xfrm>
          <a:prstGeom xmlns:a="http://schemas.openxmlformats.org/drawingml/2006/main" prst="rect">
            <a:avLst/>
          </a:prstGeom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3877F2-0058-4C64-8F96-3CCF8D64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3817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2"/>
                </a:solidFill>
                <a:latin typeface="Aptos"/>
                <a:ea typeface="Aptos"/>
                <a:cs typeface="Aptos"/>
              </a:rPr>
              <a:t>Source: output/playwright/vue-parity-verification.json</a:t>
            </a:r>
          </a:p>
        </p:txBody>
      </p:sp>
    </p:spTree>
    <p:extLst>
      <p:ext uri="{BB962C8B-B14F-4D97-AF65-F5344CB8AC3E}">
        <p14:creationId xmlns:p14="http://schemas.microsoft.com/office/powerpoint/2010/main" val="213762418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4C0533-3433-4E8B-8EEC-FF29AF6C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564BC-3098-44B4-A1DA-9D3B7526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48380-089C-424C-9DDC-E970CC97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4300" cy="114300"/>
          </a:xfrm>
          <a:prstGeom xmlns:a="http://schemas.openxmlformats.org/drawingml/2006/main" prst="rect">
            <a:avLst/>
          </a:prstGeom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060B87-BC91-4C29-A6F6-009FBAB0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34A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34A4A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3252CB-8E45-4F9A-81DC-DF786387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0287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审计链用于回答谁、何时、为什么做了什么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8034E-E117-40B8-8ACD-30D2AE6A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5334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872"/>
                </a:solidFill>
                <a:latin typeface="Aptos"/>
                <a:ea typeface="Aptos"/>
                <a:cs typeface="Aptos"/>
              </a:rPr>
              <a:t>Hash-chain integrity is local evidence; production archive is still an external duty.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05F3D-5C93-4DB6-9A7A-DED85452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482DD-E3C2-4016-B2E1-B0562B42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控制、AI、Modbus 写入、第三方任务和导出都应留痕。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93474-960D-4255-962C-6C8CD517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6E00C3-CB8F-43EB-88A0-0224A36B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审计 CSV 可作为问题复盘和验收归档附件。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39FE1F-A22C-4FFA-81A5-D44F874D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1E0848-3485-43AA-A520-4754771A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生产环境仍需备份、归档、防删和恢复演练。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F9EA84-A8C2-4092-B950-3E8F8D08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447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872"/>
                </a:solidFill>
                <a:latin typeface="Aptos"/>
                <a:ea typeface="Aptos"/>
                <a:cs typeface="Aptos"/>
              </a:rPr>
              <a:t>Trace fields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D66BF-F337-4865-893C-599C196C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14600"/>
            <a:ext cx="4762500" cy="495300"/>
          </a:xfrm>
          <a:prstGeom xmlns:a="http://schemas.openxmlformats.org/drawingml/2006/main" prst="rect">
            <a:avLst/>
          </a:prstGeom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A8CAA7-2198-4F3C-906D-A032CA00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00325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D7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5D7C"/>
                </a:solidFill>
                <a:latin typeface="Aptos"/>
                <a:ea typeface="Aptos"/>
                <a:cs typeface="Aptos"/>
              </a:rPr>
              <a:t>Actor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7A772A-1CFD-4A90-92AF-E5AD2A1C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908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role / token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824C03-8882-4042-BD4E-7B015783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62300"/>
            <a:ext cx="4762500" cy="495300"/>
          </a:xfrm>
          <a:prstGeom xmlns:a="http://schemas.openxmlformats.org/drawingml/2006/main" prst="rect">
            <a:avLst/>
          </a:prstGeom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2A0BF3-26D5-489E-A59C-86B0527C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48025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D7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5D7C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B42D19-8047-4CEB-95BB-03E392CA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385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endpoint / command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4E8E34-543D-45E2-BA52-5806B15E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4762500" cy="495300"/>
          </a:xfrm>
          <a:prstGeom xmlns:a="http://schemas.openxmlformats.org/drawingml/2006/main" prst="rect">
            <a:avLst/>
          </a:prstGeom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D01EC9-385F-49C8-8349-7471EBCF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95725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D7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5D7C"/>
                </a:solidFill>
                <a:latin typeface="Aptos"/>
                <a:ea typeface="Aptos"/>
                <a:cs typeface="Aptos"/>
              </a:rPr>
              <a:t>Reason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E766A2-D473-473A-AE64-05367883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862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non-empty reason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8C34C3-E1A4-4EDB-BB12-B9DE8BA5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57700"/>
            <a:ext cx="4762500" cy="495300"/>
          </a:xfrm>
          <a:prstGeom xmlns:a="http://schemas.openxmlformats.org/drawingml/2006/main" prst="rect">
            <a:avLst/>
          </a:prstGeom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7CCB96-A3B3-49AD-B78C-04D4600C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43425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D7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5D7C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B64BCF-4CD5-45D2-987A-1A5D1060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339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allowed / rejected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A6C209-8994-4AB2-9CDF-ECDDD8AA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05400"/>
            <a:ext cx="4762500" cy="495300"/>
          </a:xfrm>
          <a:prstGeom xmlns:a="http://schemas.openxmlformats.org/drawingml/2006/main" prst="rect">
            <a:avLst/>
          </a:prstGeom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239C6D-E141-41FF-BDE3-23819501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91125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D7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5D7C"/>
                </a:solidFill>
                <a:latin typeface="Aptos"/>
                <a:ea typeface="Aptos"/>
                <a:cs typeface="Aptos"/>
              </a:rPr>
              <a:t>Hash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758F8B-81AA-4766-A3C6-01315568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816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chain window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B8BE1B-2DD1-46DC-BB95-14DC6358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87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D006D5-396E-4DE3-BF01-0CACD2DC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15100"/>
            <a:ext cx="6953250" cy="9525"/>
          </a:xfrm>
          <a:prstGeom xmlns:a="http://schemas.openxmlformats.org/drawingml/2006/main" prst="rect">
            <a:avLst/>
          </a:prstGeom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3688E7-29B2-427A-9BEF-4BDE8276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3817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2"/>
                </a:solidFill>
                <a:latin typeface="Aptos"/>
                <a:ea typeface="Aptos"/>
                <a:cs typeface="Aptos"/>
              </a:rPr>
              <a:t>Source: docs/upper_computer_maintenance_manual.md</a:t>
            </a:r>
          </a:p>
        </p:txBody>
      </p:sp>
    </p:spTree>
    <p:extLst>
      <p:ext uri="{BB962C8B-B14F-4D97-AF65-F5344CB8AC3E}">
        <p14:creationId xmlns:p14="http://schemas.microsoft.com/office/powerpoint/2010/main" val="57011586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D93CB4-6D28-43C2-A0EB-28B1E494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b7637a492f4997"/>
          <a:srcRect xmlns:a="http://schemas.openxmlformats.org/drawingml/2006/main" l="29286" t="0" r="292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0" y="0"/>
            <a:ext cx="50482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E2BEE-A4C7-4CD2-860A-02E3C7D8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24750" cy="6858000"/>
          </a:xfrm>
          <a:prstGeom xmlns:a="http://schemas.openxmlformats.org/drawingml/2006/main" prst="rect">
            <a:avLst/>
          </a:prstGeom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19EAA-DB9F-439C-8350-F2151251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38C35-3DC5-4119-B965-0E4D07F5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4300" cy="114300"/>
          </a:xfrm>
          <a:prstGeom xmlns:a="http://schemas.openxmlformats.org/drawingml/2006/main" prst="rect">
            <a:avLst/>
          </a:prstGeom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1D127-CB6F-4598-B479-78A4D747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34A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34A4A"/>
                </a:solidFill>
                <a:latin typeface="Aptos"/>
                <a:ea typeface="Aptos"/>
                <a:cs typeface="Aptos"/>
              </a:rPr>
              <a:t>MODBUS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694CF-BB4D-4180-AE06-DC446C8B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6096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Modbus 调试页是联调工具，不是生产绕行通道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0F8088-8376-4B1C-8128-F57CBD46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5334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872"/>
                </a:solidFill>
                <a:latin typeface="Aptos"/>
                <a:ea typeface="Aptos"/>
                <a:cs typeface="Aptos"/>
              </a:rPr>
              <a:t>Register writes must remain permissioned, reasoned and safety-checked.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BA3727-D553-4357-96A7-20BB744B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A20ACA-9721-4E3E-8B57-2A57819B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523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寄存器 map 覆盖核心指标和目标点位，但最终地址/单位/缩放系数要硬件确认。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D60CC3-E73D-4A1D-A3D9-FB18C16A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3852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B353A2-D51E-47D5-BF78-1E0FD036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523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读入口用于核对设备状态；写入口只用于受控调试。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1C6D5D-443E-4DE7-A779-D1A88CAA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576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2FD32F-AF4F-4393-BB39-30ED6F8B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523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Modbus Poll/Slave 和 STM32 RTU 实机截图仍是 P0 外部验收证据。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D4E32C-A5D8-43D8-A4C7-E351DEE6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4476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872"/>
                </a:solidFill>
                <a:latin typeface="Aptos"/>
                <a:ea typeface="Aptos"/>
                <a:cs typeface="Aptos"/>
              </a:rPr>
              <a:t>External evidence still needed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570026-9CD9-49D9-8C45-3E077AB1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1428750" cy="552450"/>
          </a:xfrm>
          <a:prstGeom xmlns:a="http://schemas.openxmlformats.org/drawingml/2006/main" prst="rect">
            <a:avLst/>
          </a:prstGeom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7F2623-C768-46B7-B194-9EFDC8A2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86350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57D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57D62"/>
                </a:solidFill>
                <a:latin typeface="Aptos"/>
                <a:ea typeface="Aptos"/>
                <a:cs typeface="Aptos"/>
              </a:rPr>
              <a:t>STM32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494760-98A6-4FF8-BB47-FB4F5A0E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67325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final register manual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58E3FB-4926-468C-B136-1A52F5BB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10150"/>
            <a:ext cx="1428750" cy="552450"/>
          </a:xfrm>
          <a:prstGeom xmlns:a="http://schemas.openxmlformats.org/drawingml/2006/main" prst="rect">
            <a:avLst/>
          </a:prstGeom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3DC94E-D3C1-4D0B-A19D-13B7C86F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086350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57D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57D62"/>
                </a:solidFill>
                <a:latin typeface="Aptos"/>
                <a:ea typeface="Aptos"/>
                <a:cs typeface="Aptos"/>
              </a:rPr>
              <a:t>RTU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3DC5FD-6535-4A2C-8E6E-54B6C6C1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267325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RS485 read/write log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F5F231-5511-48E7-850F-2F2923EC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010150"/>
            <a:ext cx="1428750" cy="552450"/>
          </a:xfrm>
          <a:prstGeom xmlns:a="http://schemas.openxmlformats.org/drawingml/2006/main" prst="rect">
            <a:avLst/>
          </a:prstGeom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FFD5E8-B515-4D24-A965-FA6E83C7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086350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57D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57D62"/>
                </a:solidFill>
                <a:latin typeface="Aptos"/>
                <a:ea typeface="Aptos"/>
                <a:cs typeface="Aptos"/>
              </a:rPr>
              <a:t>TCP/TLS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A9EF3D-002A-4844-B513-F168E6AA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267325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Modbus Poll/Slave screenshots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E9EC5A-5823-4D09-AC8C-8AEC85B5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87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011E78-FDB3-4072-B1DC-24625E9A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15100"/>
            <a:ext cx="6953250" cy="9525"/>
          </a:xfrm>
          <a:prstGeom xmlns:a="http://schemas.openxmlformats.org/drawingml/2006/main" prst="rect">
            <a:avLst/>
          </a:prstGeom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D8B196-A62B-479E-AA1D-34D74F41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3817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2"/>
                </a:solidFill>
                <a:latin typeface="Aptos"/>
                <a:ea typeface="Aptos"/>
                <a:cs typeface="Aptos"/>
              </a:rPr>
              <a:t>Source: docs/upper_computer_modbus_register_map.md</a:t>
            </a:r>
          </a:p>
        </p:txBody>
      </p:sp>
    </p:spTree>
    <p:extLst>
      <p:ext uri="{BB962C8B-B14F-4D97-AF65-F5344CB8AC3E}">
        <p14:creationId xmlns:p14="http://schemas.microsoft.com/office/powerpoint/2010/main" val="157806131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DCFE13-0AC0-4F21-9AA2-52562A74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25196-075F-498A-A877-ACB3345C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3880C-0221-4BC0-B7B0-353D209A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4300" cy="114300"/>
          </a:xfrm>
          <a:prstGeom xmlns:a="http://schemas.openxmlformats.org/drawingml/2006/main" prst="rect">
            <a:avLst/>
          </a:prstGeom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A1688-57F4-469D-8101-7FE0302C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34A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34A4A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80CEC-5934-45F5-A8BC-D133DD1E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0287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REST、AINAS 和 MQTT 已有本地路径，外部平台要逐项签收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B0F81-B2B2-4F17-9005-CBCB2811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5334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872"/>
                </a:solidFill>
                <a:latin typeface="Aptos"/>
                <a:ea typeface="Aptos"/>
                <a:cs typeface="Aptos"/>
              </a:rPr>
              <a:t>Local protocol coverage is not the same as third-party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41473-DC56-4B73-B430-5AE6E0AC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F69E4-AFC2-4E8B-B653-E4124987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REST API 是 HMI、CLI 和第三方系统共用入口。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C4262D-3911-441D-B044-9E78F3E5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3608FF-0220-4E63-B539-10D16443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AINAS 支持任务创建、查询、执行回执和 AES 静态加密。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067E9-9E7F-4654-BDD7-D9AEDC1B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84699E-5631-4CF9-87CE-6A78830B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MQTT 支持 task、receipt、alert 和 TLS 配置边界，仍需外部 broker 验收。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4C99FA-881C-4D07-95E6-F895455C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1257300" cy="514350"/>
          </a:xfrm>
          <a:prstGeom xmlns:a="http://schemas.openxmlformats.org/drawingml/2006/main" prst="rect">
            <a:avLst/>
          </a:prstGeom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7C730E-18A8-446B-A781-EC95D673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47925"/>
            <a:ext cx="1066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Interface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5A2C24-0E37-456D-8263-5C05ED3F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62200"/>
            <a:ext cx="1619250" cy="514350"/>
          </a:xfrm>
          <a:prstGeom xmlns:a="http://schemas.openxmlformats.org/drawingml/2006/main" prst="rect">
            <a:avLst/>
          </a:prstGeom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F1654E-2828-49F4-A93F-6D14E28F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47925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Local basis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42F1DF-CA15-4636-80EF-41F76B21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62200"/>
            <a:ext cx="1885950" cy="514350"/>
          </a:xfrm>
          <a:prstGeom xmlns:a="http://schemas.openxmlformats.org/drawingml/2006/main" prst="rect">
            <a:avLst/>
          </a:prstGeom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D3D276-A3AB-4F6A-8D1D-1465AB03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47925"/>
            <a:ext cx="1695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External proof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06160B-012E-49CC-A3DC-ABA61235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1257300" cy="514350"/>
          </a:xfrm>
          <a:prstGeom xmlns:a="http://schemas.openxmlformats.org/drawingml/2006/main" prst="rect">
            <a:avLst/>
          </a:prstGeom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DBAA54-337F-439F-8FD7-39AB1EF4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38475"/>
            <a:ext cx="1066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1E2F2B-E77C-4FE7-A546-1E30D719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52750"/>
            <a:ext cx="1619250" cy="514350"/>
          </a:xfrm>
          <a:prstGeom xmlns:a="http://schemas.openxmlformats.org/drawingml/2006/main" prst="rect">
            <a:avLst/>
          </a:prstGeom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02D05C-5D56-43BB-AFA0-C00F4567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38475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API manual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992118-3E6F-47BD-89A9-9FFF213B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52750"/>
            <a:ext cx="1885950" cy="514350"/>
          </a:xfrm>
          <a:prstGeom xmlns:a="http://schemas.openxmlformats.org/drawingml/2006/main" prst="rect">
            <a:avLst/>
          </a:prstGeom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3FF736-58FF-4C60-824D-779972DD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38475"/>
            <a:ext cx="1695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Postman / third-party logs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A6AC70-7178-4DBC-9D98-BC7B2D08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43300"/>
            <a:ext cx="1257300" cy="514350"/>
          </a:xfrm>
          <a:prstGeom xmlns:a="http://schemas.openxmlformats.org/drawingml/2006/main" prst="rect">
            <a:avLst/>
          </a:prstGeom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D2E355-74CC-4192-8BA6-CE358A67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29025"/>
            <a:ext cx="1066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AINAS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FBA0E2-D39B-4310-B1D1-693E35BF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43300"/>
            <a:ext cx="1619250" cy="514350"/>
          </a:xfrm>
          <a:prstGeom xmlns:a="http://schemas.openxmlformats.org/drawingml/2006/main" prst="rect">
            <a:avLst/>
          </a:prstGeom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79B9E9-AC41-4ED2-9805-748D35FF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29025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task + receipt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C78EA9-43E9-4990-AB71-6BD6ECFE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43300"/>
            <a:ext cx="1885950" cy="514350"/>
          </a:xfrm>
          <a:prstGeom xmlns:a="http://schemas.openxmlformats.org/drawingml/2006/main" prst="rect">
            <a:avLst/>
          </a:prstGeom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AF8BE5-C414-4AFD-A190-966461B4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29025"/>
            <a:ext cx="1695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real platform screenshots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6287F0-C0A5-428E-968F-B27FC89D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33850"/>
            <a:ext cx="1257300" cy="514350"/>
          </a:xfrm>
          <a:prstGeom xmlns:a="http://schemas.openxmlformats.org/drawingml/2006/main" prst="rect">
            <a:avLst/>
          </a:prstGeom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6D6D35-F21F-4944-B6AB-B6A96F9E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9575"/>
            <a:ext cx="1066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MQTT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9BCBA4-A069-47D4-841C-287BFC47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33850"/>
            <a:ext cx="1619250" cy="514350"/>
          </a:xfrm>
          <a:prstGeom xmlns:a="http://schemas.openxmlformats.org/drawingml/2006/main" prst="rect">
            <a:avLst/>
          </a:prstGeom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CF3B35-65CF-4953-88F4-2675DEA0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19575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bridge + TLS fields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7CB77E-96AA-4CA6-8029-4BC3E3F5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33850"/>
            <a:ext cx="1885950" cy="514350"/>
          </a:xfrm>
          <a:prstGeom xmlns:a="http://schemas.openxmlformats.org/drawingml/2006/main" prst="rect">
            <a:avLst/>
          </a:prstGeom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34AF1B-54A9-422E-B972-0FC1DA2C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219575"/>
            <a:ext cx="1695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broker / reconnect records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498FDA-48D7-4CBF-9767-CB8ABE6E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872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7EDB60-F6A2-40B5-9612-02C25AEF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15100"/>
            <a:ext cx="6953250" cy="9525"/>
          </a:xfrm>
          <a:prstGeom xmlns:a="http://schemas.openxmlformats.org/drawingml/2006/main" prst="rect">
            <a:avLst/>
          </a:prstGeom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341BDF-479C-42A5-BA63-A156D985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3817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2"/>
                </a:solidFill>
                <a:latin typeface="Aptos"/>
                <a:ea typeface="Aptos"/>
                <a:cs typeface="Aptos"/>
              </a:rPr>
              <a:t>Source: docs/upper_computer_api_acceptance_manual.md</a:t>
            </a:r>
          </a:p>
        </p:txBody>
      </p:sp>
    </p:spTree>
    <p:extLst>
      <p:ext uri="{BB962C8B-B14F-4D97-AF65-F5344CB8AC3E}">
        <p14:creationId xmlns:p14="http://schemas.microsoft.com/office/powerpoint/2010/main" val="115380414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93DC61-1D81-44DC-953F-9306F569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5C992C-AAAF-4438-A080-22ED35F4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583AD-6753-46FB-8FCC-ECAB6D9B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4300" cy="114300"/>
          </a:xfrm>
          <a:prstGeom xmlns:a="http://schemas.openxmlformats.org/drawingml/2006/main" prst="rect">
            <a:avLst/>
          </a:prstGeom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DAEBA-9D41-435C-8909-7C065BCB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34A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34A4A"/>
                </a:solidFill>
                <a:latin typeface="Aptos"/>
                <a:ea typeface="Aptos"/>
                <a:cs typeface="Aptos"/>
              </a:rPr>
              <a:t>CONFIG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530B2-6440-4AC3-B849-F6AA084A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0287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配置培训要强调可改项、敏感项和变更复验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35776-5EAD-4CE9-A261-FDC68979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5334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872"/>
                </a:solidFill>
                <a:latin typeface="Aptos"/>
                <a:ea typeface="Aptos"/>
                <a:cs typeface="Aptos"/>
              </a:rPr>
              <a:t>Configuration is part of the safety case.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1934B2-38AE-4CF7-9785-750AD1A4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BC633B-2143-4CC4-B598-F90D201E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`device.toml` 管设备和采集；`safety.toml` 管范围、步长、禁区和超时。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3B81C-3EFB-4B9E-8111-784A52DB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E4B914-6CF7-41A8-B15E-5B7338A9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`integration.toml` 管 AINAS/MQTT/Modbus TCP/TLS；`ai_memory.toml` 管 AI readiness。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BCE936-6708-48C8-915A-911D0CE6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6EA35-A783-40D3-AA46-8BE06ABE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数据库加密 key、auth secret、证书私钥和 provider key 不得出现在培训画面中。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623900-6758-41F9-B09F-11F93F13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447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872"/>
                </a:solidFill>
                <a:latin typeface="Aptos"/>
                <a:ea typeface="Aptos"/>
                <a:cs typeface="Aptos"/>
              </a:rPr>
              <a:t>Config 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749045-AA04-41F0-9487-2E7C4466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14600"/>
            <a:ext cx="4762500" cy="495300"/>
          </a:xfrm>
          <a:prstGeom xmlns:a="http://schemas.openxmlformats.org/drawingml/2006/main" prst="rect">
            <a:avLst/>
          </a:prstGeom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6382E7-621E-478B-84FA-94E29E80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00325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7D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7D62"/>
                </a:solidFill>
                <a:latin typeface="Aptos"/>
                <a:ea typeface="Aptos"/>
                <a:cs typeface="Aptos"/>
              </a:rPr>
              <a:t>Device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2F9166-240F-4CAF-982B-6DB4A827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908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config/device.toml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93546F-4BDA-40C6-BEA2-69734936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62300"/>
            <a:ext cx="4762500" cy="495300"/>
          </a:xfrm>
          <a:prstGeom xmlns:a="http://schemas.openxmlformats.org/drawingml/2006/main" prst="rect">
            <a:avLst/>
          </a:prstGeom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7C1732-B722-4EE7-B157-BE5D6435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48025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7D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7D62"/>
                </a:solidFill>
                <a:latin typeface="Aptos"/>
                <a:ea typeface="Aptos"/>
                <a:cs typeface="Aptos"/>
              </a:rPr>
              <a:t>Safety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5DEA8D-55B6-47A7-9690-1D70622F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385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config/safety.toml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FAF77B-FF09-4317-89FD-BD822BD1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4762500" cy="495300"/>
          </a:xfrm>
          <a:prstGeom xmlns:a="http://schemas.openxmlformats.org/drawingml/2006/main" prst="rect">
            <a:avLst/>
          </a:prstGeom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71FE08-C8D2-4C92-882D-9D62F61A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95725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7D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7D62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B4BB71-58CF-4158-B25F-2F5AD845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862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config/integration.toml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3ECBC9-9B68-4FD2-A9C3-668DBD74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57700"/>
            <a:ext cx="4762500" cy="495300"/>
          </a:xfrm>
          <a:prstGeom xmlns:a="http://schemas.openxmlformats.org/drawingml/2006/main" prst="rect">
            <a:avLst/>
          </a:prstGeom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2A70C5-0EB1-4FD5-AD21-E795FF62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43425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7D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7D62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3158AD-CB25-4DE3-9295-8DB3D23D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339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config/ai_memory.toml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67B53F-1528-483D-845F-6C876E02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872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3827A2-0045-4BC7-AF88-C67EAC7C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15100"/>
            <a:ext cx="6953250" cy="9525"/>
          </a:xfrm>
          <a:prstGeom xmlns:a="http://schemas.openxmlformats.org/drawingml/2006/main" prst="rect">
            <a:avLst/>
          </a:prstGeom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A6D3B6-2779-45A0-9876-C41F5CD8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3817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2"/>
                </a:solidFill>
                <a:latin typeface="Aptos"/>
                <a:ea typeface="Aptos"/>
                <a:cs typeface="Aptos"/>
              </a:rPr>
              <a:t>Source: docs/upper_computer_security_key_lifecycle.md</a:t>
            </a:r>
          </a:p>
        </p:txBody>
      </p:sp>
    </p:spTree>
    <p:extLst>
      <p:ext uri="{BB962C8B-B14F-4D97-AF65-F5344CB8AC3E}">
        <p14:creationId xmlns:p14="http://schemas.microsoft.com/office/powerpoint/2010/main" val="158888999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4FEB34-8315-438B-9AC9-624B466A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14EE3-8DE3-4D2A-A253-9427B9DA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8E521-B2F6-44F1-B4C0-924B401B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4300" cy="114300"/>
          </a:xfrm>
          <a:prstGeom xmlns:a="http://schemas.openxmlformats.org/drawingml/2006/main" prst="rect">
            <a:avLst/>
          </a:prstGeom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FD3FA-C8F3-4B24-AD26-A669516A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34A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34A4A"/>
                </a:solidFill>
                <a:latin typeface="Aptos"/>
                <a:ea typeface="Aptos"/>
                <a:cs typeface="Aptos"/>
              </a:rPr>
              <a:t>INCIDENTS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FB5DA-95E0-457E-81AF-109E711F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0287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异常处理先保安全，再定位证据和责任边界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5F660-1868-4E0E-ABFC-3918ADC4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5334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872"/>
                </a:solidFill>
                <a:latin typeface="Aptos"/>
                <a:ea typeface="Aptos"/>
                <a:cs typeface="Aptos"/>
              </a:rPr>
              <a:t>Every incident should produce a reproducible record.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87EF0-9F6F-4F71-A485-C71FD13D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73EAA-0EFE-4E31-BE70-EFA15BC9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温度/压力越限时优先现场安全动作，再看上位机报警和审计。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7C799-6EA6-4F9B-97CF-5461C792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3199F-6065-4394-B466-7895FC8F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控制被拒绝时先检查权限、reason、安全范围、禁区、急停和人工锁。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C7247F-2C16-4723-A8C9-B4A9ED92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248637-6730-4FE6-985A-8AA7C997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AI、MQTT、AINAS 不可用时不应阻断本地核心监控、控制、审计和历史查看。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7F3A75-1A17-4B98-BA30-528C1C3A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447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872"/>
                </a:solidFill>
                <a:latin typeface="Aptos"/>
                <a:ea typeface="Aptos"/>
                <a:cs typeface="Aptos"/>
              </a:rPr>
              <a:t>Evidence to collect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E67B08-6002-45A2-AF17-6DE9C0BB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14600"/>
            <a:ext cx="4762500" cy="495300"/>
          </a:xfrm>
          <a:prstGeom xmlns:a="http://schemas.openxmlformats.org/drawingml/2006/main" prst="rect">
            <a:avLst/>
          </a:prstGeom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00457-DF6E-41B7-A084-3BBF7DE6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00325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D7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5D7C"/>
                </a:solidFill>
                <a:latin typeface="Aptos"/>
                <a:ea typeface="Aptos"/>
                <a:cs typeface="Aptos"/>
              </a:rPr>
              <a:t>Screenshot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232A5-8CE2-47C9-AB64-205FC35A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908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HMI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F7402D-AB0E-46A7-AD31-AFFB248A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62300"/>
            <a:ext cx="4762500" cy="495300"/>
          </a:xfrm>
          <a:prstGeom xmlns:a="http://schemas.openxmlformats.org/drawingml/2006/main" prst="rect">
            <a:avLst/>
          </a:prstGeom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349CBC-D2E3-4326-981C-01F7646B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48025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D7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5D7C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D70B55-F810-431E-84DA-1117197D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385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response body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466061-96FD-45D2-977B-3D9E13B0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4762500" cy="495300"/>
          </a:xfrm>
          <a:prstGeom xmlns:a="http://schemas.openxmlformats.org/drawingml/2006/main" prst="rect">
            <a:avLst/>
          </a:prstGeom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8C94C0-DACD-4C4C-B237-675A6066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95725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D7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5D7C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398353-D8B7-4B53-8946-C6FC9A70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862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event 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8F61F7-53FA-45F7-ADEF-56E2A29A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57700"/>
            <a:ext cx="4762500" cy="495300"/>
          </a:xfrm>
          <a:prstGeom xmlns:a="http://schemas.openxmlformats.org/drawingml/2006/main" prst="rect">
            <a:avLst/>
          </a:prstGeom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AFA6BE-3638-4D26-8571-B666CD3A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43425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D7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5D7C"/>
                </a:solidFill>
                <a:latin typeface="Aptos"/>
                <a:ea typeface="Aptos"/>
                <a:cs typeface="Aptos"/>
              </a:rPr>
              <a:t>Log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0CF894-E58B-4752-A42D-70B5066A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339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daemon / broker / platform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1D5FB5-8ABB-4A3C-8A93-A446021F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87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667066-CE86-4602-9C8A-A4ECC5B6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15100"/>
            <a:ext cx="6953250" cy="9525"/>
          </a:xfrm>
          <a:prstGeom xmlns:a="http://schemas.openxmlformats.org/drawingml/2006/main" prst="rect">
            <a:avLst/>
          </a:prstGeom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7D6EF1-A068-458E-B46F-92D4E8E7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3817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2"/>
                </a:solidFill>
                <a:latin typeface="Aptos"/>
                <a:ea typeface="Aptos"/>
                <a:cs typeface="Aptos"/>
              </a:rPr>
              <a:t>Source: docs/upper_computer_maintenance_manual.md</a:t>
            </a:r>
          </a:p>
        </p:txBody>
      </p:sp>
    </p:spTree>
    <p:extLst>
      <p:ext uri="{BB962C8B-B14F-4D97-AF65-F5344CB8AC3E}">
        <p14:creationId xmlns:p14="http://schemas.microsoft.com/office/powerpoint/2010/main" val="152925657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406978-9FA9-4E48-80AE-E5DEDA60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3EA48-96EE-422A-BF66-2883B74A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E951D-4BAB-489F-8A0C-4B913E75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4300" cy="114300"/>
          </a:xfrm>
          <a:prstGeom xmlns:a="http://schemas.openxmlformats.org/drawingml/2006/main" prst="rect">
            <a:avLst/>
          </a:prstGeom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0A0CC-059F-4061-9E96-EEF6FF4E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34A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34A4A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BC6B9-EF33-4569-8B71-C22FC6FC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0287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部署验收要覆盖启动、健康、备份、恢复和回滚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6D403-92D0-4ECA-A8C4-E8F92E9D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5334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872"/>
                </a:solidFill>
                <a:latin typeface="Aptos"/>
                <a:ea typeface="Aptos"/>
                <a:cs typeface="Aptos"/>
              </a:rPr>
              <a:t>A working demo is not a maintainable production installation.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59342-DFD2-479C-A232-EA493A8F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A6F450-E585-4889-9D39-7B49712A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RK/PC 部署要记录版本、SHA256、配置、启动命令和 systemd 状态。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DCDF9-C401-4E3A-90A9-E18E4EC8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AC20C3-C416-4D4F-9905-29E5A5D3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备份要覆盖 SQLite、配置、证书、审计导出和 AI 资产路径。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C51E61-7FA1-4652-BD28-DD7D19EF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928E5C-BD7B-46E3-AEE5-12D5B3BC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恢复后必须复测 `/health`、历史数据、产品结果和审计链。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0224AB-1686-4D60-89A3-94E3F938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447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872"/>
                </a:solidFill>
                <a:latin typeface="Aptos"/>
                <a:ea typeface="Aptos"/>
                <a:cs typeface="Aptos"/>
              </a:rPr>
              <a:t>Current local artifacts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C08FCE-CB7F-4CEE-85AF-73A9A808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14600"/>
            <a:ext cx="4762500" cy="495300"/>
          </a:xfrm>
          <a:prstGeom xmlns:a="http://schemas.openxmlformats.org/drawingml/2006/main" prst="rect">
            <a:avLst/>
          </a:prstGeom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87396D-889A-40A0-B7AD-65577779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00325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7D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7D62"/>
                </a:solidFill>
                <a:latin typeface="Aptos"/>
                <a:ea typeface="Aptos"/>
                <a:cs typeface="Aptos"/>
              </a:rPr>
              <a:t>Guide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5AF84F-B9F0-45FE-8A10-97E9F8D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908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upper_computer_rk_deployment_acceptance_guide.md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8EF35-16B1-4453-94D6-FFE06455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62300"/>
            <a:ext cx="4762500" cy="495300"/>
          </a:xfrm>
          <a:prstGeom xmlns:a="http://schemas.openxmlformats.org/drawingml/2006/main" prst="rect">
            <a:avLst/>
          </a:prstGeom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C9DF13-51E4-4E83-ADAE-756BA13F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48025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7D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7D62"/>
                </a:solidFill>
                <a:latin typeface="Aptos"/>
                <a:ea typeface="Aptos"/>
                <a:cs typeface="Aptos"/>
              </a:rPr>
              <a:t>Drill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45229D-91B1-40CD-AFC7-49A5624C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385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output/acceptance/restore-drill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A4C30A-B780-470E-B73D-F7B2BC53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4762500" cy="495300"/>
          </a:xfrm>
          <a:prstGeom xmlns:a="http://schemas.openxmlformats.org/drawingml/2006/main" prst="rect">
            <a:avLst/>
          </a:prstGeom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6F3C4F-65BE-42CD-9C5F-7E5EDB40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95725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7D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7D62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324528-FB97-4017-87EB-25EC69A9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862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output/acceptance/acceptance-report.md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D1FB46-B3AD-4A2E-A491-1E71ED97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872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9D187C-13B7-4394-8A0C-533F9733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15100"/>
            <a:ext cx="6953250" cy="9525"/>
          </a:xfrm>
          <a:prstGeom xmlns:a="http://schemas.openxmlformats.org/drawingml/2006/main" prst="rect">
            <a:avLst/>
          </a:prstGeom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41B205-78A2-4A35-B8FD-5BD0675E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3817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2"/>
                </a:solidFill>
                <a:latin typeface="Aptos"/>
                <a:ea typeface="Aptos"/>
                <a:cs typeface="Aptos"/>
              </a:rPr>
              <a:t>Source: docs/upper_computer_delivery_readiness_index.md</a:t>
            </a:r>
          </a:p>
        </p:txBody>
      </p:sp>
    </p:spTree>
    <p:extLst>
      <p:ext uri="{BB962C8B-B14F-4D97-AF65-F5344CB8AC3E}">
        <p14:creationId xmlns:p14="http://schemas.microsoft.com/office/powerpoint/2010/main" val="42525573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520DD6-3858-4927-8514-28A13E18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b63d526a4a48d9"/>
          <a:srcRect xmlns:a="http://schemas.openxmlformats.org/drawingml/2006/main" l="29286" t="0" r="292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0" y="0"/>
            <a:ext cx="50482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9414E-DC0E-4298-89CF-A76F47E4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24750" cy="6858000"/>
          </a:xfrm>
          <a:prstGeom xmlns:a="http://schemas.openxmlformats.org/drawingml/2006/main" prst="rect">
            <a:avLst/>
          </a:prstGeom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6775A-2C44-4EC5-BD94-C37DB261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E59CE-2EAD-445A-85C1-CC5A38B7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4300" cy="114300"/>
          </a:xfrm>
          <a:prstGeom xmlns:a="http://schemas.openxmlformats.org/drawingml/2006/main" prst="rect">
            <a:avLst/>
          </a:prstGeom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17A7F-8A4B-475A-9320-676F1134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34A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34A4A"/>
                </a:solidFill>
                <a:latin typeface="Aptos"/>
                <a:ea typeface="Aptos"/>
                <a:cs typeface="Aptos"/>
              </a:rPr>
              <a:t>ACCEPTANCE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3E669-8BA0-4D4E-BADB-236C94B0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6096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用户验收脚本已经准备好，签字前仍只能叫联调准备版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77C815-86BC-43BC-A03F-B9A5E4F3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5334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872"/>
                </a:solidFill>
                <a:latin typeface="Aptos"/>
                <a:ea typeface="Aptos"/>
                <a:cs typeface="Aptos"/>
              </a:rPr>
              <a:t>UAT converts local evidence into project acceptance.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7F40DE-7BA5-4644-93E1-0EC57963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7213B2-0315-4E86-A74E-9D836582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523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脚本覆盖七大页面、中英、RBAC、监控、报警、控制、AI、批次、历史、审计、Modbus、配置、第三方、多端和部署。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C0CE65-5BDE-481E-913A-6F4E6760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3852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6D8AF-177D-4CE9-98AA-3A7F0FB9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523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每项都要求步骤、预期结果、证据、问题编号和复测结果。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143985-7648-4B70-AB70-71B45878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576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4405DB-572A-48B9-8E0C-9708FC9E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523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P0 项未通过或未风险接受时，不应签最终通过。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D2B25E-FCD1-4126-B24D-E96DDB94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4476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872"/>
                </a:solidFill>
                <a:latin typeface="Aptos"/>
                <a:ea typeface="Aptos"/>
                <a:cs typeface="Aptos"/>
              </a:rPr>
              <a:t>UAT artifacts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E82203-C538-4638-B3C6-2F71A119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1428750" cy="552450"/>
          </a:xfrm>
          <a:prstGeom xmlns:a="http://schemas.openxmlformats.org/drawingml/2006/main" prst="rect">
            <a:avLst/>
          </a:prstGeom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B20274-E7D6-4521-9F63-E0C0B161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86350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5D7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5D7C"/>
                </a:solidFill>
                <a:latin typeface="Aptos"/>
                <a:ea typeface="Aptos"/>
                <a:cs typeface="Aptos"/>
              </a:rPr>
              <a:t>Script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3496D3-6394-4CDA-B6C3-BC192950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67325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UAT operation script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ACA51A-DA2C-46AF-AA64-475293BB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10150"/>
            <a:ext cx="1428750" cy="552450"/>
          </a:xfrm>
          <a:prstGeom xmlns:a="http://schemas.openxmlformats.org/drawingml/2006/main" prst="rect">
            <a:avLst/>
          </a:prstGeom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D8C806-1AC0-4AF6-B1D8-0F5793D3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086350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5D7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5D7C"/>
                </a:solidFill>
                <a:latin typeface="Aptos"/>
                <a:ea typeface="Aptos"/>
                <a:cs typeface="Aptos"/>
              </a:rPr>
              <a:t>Issues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FA4758-754A-44A4-9C84-C7934083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267325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training issue log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A531A1-683D-4190-BCE7-FB58E92D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010150"/>
            <a:ext cx="1428750" cy="552450"/>
          </a:xfrm>
          <a:prstGeom xmlns:a="http://schemas.openxmlformats.org/drawingml/2006/main" prst="rect">
            <a:avLst/>
          </a:prstGeom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91C491-E5B7-4F6E-A6FC-E3BCD8AB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086350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5D7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5D7C"/>
                </a:solidFill>
                <a:latin typeface="Aptos"/>
                <a:ea typeface="Aptos"/>
                <a:cs typeface="Aptos"/>
              </a:rPr>
              <a:t>Checklist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C0D4D8-7805-4881-A4D7-9AD0C79F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267325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external acceptance checklist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7F07A9-13D2-4A45-9240-5DBF6EF8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872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9FEA29-3831-4A52-B9D3-013448B7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15100"/>
            <a:ext cx="6953250" cy="9525"/>
          </a:xfrm>
          <a:prstGeom xmlns:a="http://schemas.openxmlformats.org/drawingml/2006/main" prst="rect">
            <a:avLst/>
          </a:prstGeom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398B94-1391-4379-8A2D-357C3912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3817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2"/>
                </a:solidFill>
                <a:latin typeface="Aptos"/>
                <a:ea typeface="Aptos"/>
                <a:cs typeface="Aptos"/>
              </a:rPr>
              <a:t>Source: docs/upper_computer_user_acceptance_script.md</a:t>
            </a:r>
          </a:p>
        </p:txBody>
      </p:sp>
    </p:spTree>
    <p:extLst>
      <p:ext uri="{BB962C8B-B14F-4D97-AF65-F5344CB8AC3E}">
        <p14:creationId xmlns:p14="http://schemas.microsoft.com/office/powerpoint/2010/main" val="66054138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9F8891-66C4-4D24-B3C5-0595E44E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fb2a933af446ad"/>
          <a:srcRect xmlns:a="http://schemas.openxmlformats.org/drawingml/2006/main" l="29286" t="0" r="292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0" y="0"/>
            <a:ext cx="50482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AA89E-1BB9-4DA7-99A5-5028A4D9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24750" cy="6858000"/>
          </a:xfrm>
          <a:prstGeom xmlns:a="http://schemas.openxmlformats.org/drawingml/2006/main" prst="rect">
            <a:avLst/>
          </a:prstGeom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6B3E6-7FB9-4BAC-9256-2851B5BE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7AD87-E980-4337-8B87-B43F4050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4300" cy="114300"/>
          </a:xfrm>
          <a:prstGeom xmlns:a="http://schemas.openxmlformats.org/drawingml/2006/main" prst="rect">
            <a:avLst/>
          </a:prstGeom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C5835-E7DE-4DB6-9BD5-8EB9FE01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34A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34A4A"/>
                </a:solidFill>
                <a:latin typeface="Aptos"/>
                <a:ea typeface="Aptos"/>
                <a:cs typeface="Aptos"/>
              </a:rPr>
              <a:t>FAQ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690F2-B52F-4B0C-95FA-33FDE50A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60960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175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常见问题要按责任边界分流，不要把外部缺口算成 HMI 页面失败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8C262-449A-489E-BCD5-0D9531DE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5334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872"/>
                </a:solidFill>
                <a:latin typeface="Aptos"/>
                <a:ea typeface="Aptos"/>
                <a:cs typeface="Aptos"/>
              </a:rPr>
              <a:t>Keep acceptance language precise under pressure.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A67DFD-5559-4A9C-97A7-096F15CE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132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3CC690-1477-44DF-9DEA-5DCACE91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523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页面打不开：查服务、端口、浏览器、证书和网络。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53051-EAB8-4F99-8EE7-0E385BEF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3DBC6-D8A7-435D-9321-48370747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523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实时数据为空：查 STM32/RS485、样本入口和传感器新鲜度。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B829A2-EF5B-4467-B02F-457F2A13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C75579-64CE-46EC-A247-5F765C53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523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AI 不可用：查 StepFun、本地模型权重、adapter、训练脚本和 RK 推理服务。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484789-C7AF-4333-87AA-35DCB200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38775"/>
            <a:ext cx="66675" cy="66675"/>
          </a:xfrm>
          <a:prstGeom xmlns:a="http://schemas.openxmlformats.org/drawingml/2006/main" prst="ellipse">
            <a:avLst/>
          </a:prstGeom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FA3DD8-AF24-47F1-B881-D58089A0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53050"/>
            <a:ext cx="523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第三方任务失败：查平台、broker、账号、证书、topic 和任务格式。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D3E3BD-40FD-481E-A351-6DC1D031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87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F8AD0C-4F69-41CD-BE5A-6F3D79D0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15100"/>
            <a:ext cx="6953250" cy="9525"/>
          </a:xfrm>
          <a:prstGeom xmlns:a="http://schemas.openxmlformats.org/drawingml/2006/main" prst="rect">
            <a:avLst/>
          </a:prstGeom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AE955A-D3A2-4F86-8560-00FA7F8B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3817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8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872"/>
                </a:solidFill>
                <a:latin typeface="Aptos"/>
                <a:ea typeface="Aptos"/>
                <a:cs typeface="Aptos"/>
              </a:rPr>
              <a:t>Source: docs/upper_computer_training_attendance_and_issues.md</a:t>
            </a:r>
          </a:p>
        </p:txBody>
      </p:sp>
    </p:spTree>
    <p:extLst>
      <p:ext uri="{BB962C8B-B14F-4D97-AF65-F5344CB8AC3E}">
        <p14:creationId xmlns:p14="http://schemas.microsoft.com/office/powerpoint/2010/main" val="13516793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2026-06-07T13:43:26.7470000Z</dcterms:created>
  <dcterms:modified xsi:type="dcterms:W3CDTF">2026-06-07T13:43:26.7470000Z</dcterms:modified>
</coreProperties>
</file>